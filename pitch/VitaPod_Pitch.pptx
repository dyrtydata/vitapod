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(~10s):</a:t>
            </a:r>
          </a:p>
          <a:p>
            <a:r>
              <a:rPr i="1" sz="1300"/>
              <a:t>“Hi — we're VitaPod. We built a way for patients to prove they qualify for a clinical trial without handing over a single biomarker.”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CONTEXT</a:t>
            </a:r>
          </a:p>
          <a:p>
            <a:r>
              <a:rPr sz="1100"/>
              <a:t>EAG Global Buildathon 2026, Florianópolis. Track: Local AI, Private AI &amp; User-Owned Data — the track explicitly calls out privacy-first AI, user-owned datasets, private credentials, and selective disclosure. Format is a short showcase plus Q&amp;A, which is why every slide's live line is deliberately short.</a:t>
            </a:r>
          </a:p>
          <a:p>
            <a:r>
              <a:rPr sz="1100"/>
              <a:t>One-sentence definition if the audience needs it: a zero-knowledge proof lets you mathematically prove a true/false statement about private data without showing the data itself. VitaPod applies that to clinical-trial eligibility rules (age, HbA1c, eGFR thresholds).</a:t>
            </a:r>
          </a:p>
          <a:p>
            <a:r>
              <a:rPr b="1" sz="1100"/>
              <a:t>SOURCES</a:t>
            </a:r>
          </a:p>
          <a:p>
            <a:r>
              <a:rPr sz="1000" i="1"/>
              <a:t>• EAG Global Buildathon event page — https://luma.com/5fbmh4p9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What does EAG stand for?</a:t>
            </a:r>
          </a:p>
          <a:p>
            <a:r>
              <a:rPr sz="1100"/>
              <a:t>A: Effective Altruism Global — this buildathon's track is Local AI, Private AI &amp; User-Owned Data.</a:t>
            </a:r>
          </a:p>
          <a:p>
            <a:r>
              <a:rPr b="1" sz="1100"/>
              <a:t>Q: Is this a real build or just a slide deck?</a:t>
            </a:r>
          </a:p>
          <a:p>
            <a:r>
              <a:rPr sz="1100"/>
              <a:t>A: It's a running prototype — CLI proof pipeline, Solidity registry, and a browser demo, all in the public repo (github.com/dyrtyData/VitaPod). We're about to show it live.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" name="Shape 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(~6s):</a:t>
            </a:r>
          </a:p>
          <a:p>
            <a:r>
              <a:rPr i="1" sz="1300"/>
              <a:t>“Three of us: pharmacy and health IT, blockchain engineering, and neuroscience with trial operations experience.”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• Diana Chang — AI Engineer &amp; Project Lead. PharmD + MS Health IT: the pharmacy background gives clinical/regulatory literacy; built the end-to-end architecture and this pitch.</a:t>
            </a:r>
          </a:p>
          <a:p>
            <a:r>
              <a:rPr sz="1100"/>
              <a:t>• Mehdi-Loup Nasom — Blockchain/Web3 Developer. ENSC Ingénieur en Cognitique (French engineering degree, cognitive-science/engineering focus). Built the smart contracts and wallet integration, and recorded the technical walkthrough.</a:t>
            </a:r>
          </a:p>
          <a:p>
            <a:r>
              <a:rPr sz="1100"/>
              <a:t>• Mariana Uchoa — Scientific Advisor. PhD Neuroscience (USC); background running clinical trials is where the SME framing on where recruitment/screening breaks comes from.</a:t>
            </a:r>
          </a:p>
          <a:p>
            <a:r>
              <a:rPr b="1" sz="1100"/>
              <a:t>PRESENTER NOTE</a:t>
            </a:r>
          </a:p>
          <a:p>
            <a:r>
              <a:rPr sz="1100"/>
              <a:t>Keep bios to what's on the slide and in the public docs. If Mariana is asked for more specific trial-operations detail, let her answer live from her own experience rather than assert unverified specifics — a background check on public sources confirmed her USC neuroscience PhD and biotech-industry affiliations but couldn't fully verify a formal principal-investigator record, so 'former clinical trial lead' (as used consistently across every pitch document) is the safe, accurate framing.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Who actually wrote the code?</a:t>
            </a:r>
          </a:p>
          <a:p>
            <a:r>
              <a:rPr sz="1100"/>
              <a:t>A: Diana and Mehdi. Mariana is the clinical subject-matter expert on this project, not an engineer on the build.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(~6s):</a:t>
            </a:r>
          </a:p>
          <a:p>
            <a:r>
              <a:rPr i="1" sz="1300"/>
              <a:t>“Before a patient knows whether they even qualify, this is the list they hand over.”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This list is transcribed from a real trial consent form (Emory University IRB) — shown in full on the next slide as proof it isn't exaggerated or a composite.</a:t>
            </a:r>
          </a:p>
          <a:p>
            <a:r>
              <a:rPr sz="1100"/>
              <a:t>Screen-failure is the real payoff for all that disclosure: rates range from 20-30% (genitourinary cancer) up to 58-80% (Alzheimer's-type trials) depending on indication. 'Up to four out of every five individuals screened may never enroll.'</a:t>
            </a:r>
          </a:p>
          <a:p>
            <a:r>
              <a:rPr sz="1100"/>
              <a:t>The 80% figure on the slide is deliberately the high end of that range — used because it's the most vivid proof of wasted burden, not because it's the typical case.</a:t>
            </a:r>
          </a:p>
          <a:p>
            <a:r>
              <a:rPr b="1" sz="1100"/>
              <a:t>SOURCES</a:t>
            </a:r>
          </a:p>
          <a:p>
            <a:r>
              <a:rPr sz="1000" i="1"/>
              <a:t>• Advarra, 'Screen Failure in Clinical Trials' — https://www.advarra.com/resource-library/screen-failure-in-clinical-trials/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Is 80% typical?</a:t>
            </a:r>
          </a:p>
          <a:p>
            <a:r>
              <a:rPr sz="1100"/>
              <a:t>A: No — it's indication-dependent, roughly 20% to 80%. We show the high end because it's the most dramatic illustration, but even the low end means a fifth to a third of this entire workup is thrown away.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" name="Shape 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(~6s):</a:t>
            </a:r>
          </a:p>
          <a:p>
            <a:r>
              <a:rPr i="1" sz="1300"/>
              <a:t>“Here's the real thing — an actual Emory University consent form, word for word.”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This is a genuine, publicly available Emory University IRB consent form for a real pilot study (VX15/2503, an experimental drug, combined with nivolumab/ipilimumab in melanoma). Nothing on this slide is a mock-up or a paraphrase.</a:t>
            </a:r>
          </a:p>
          <a:p>
            <a:r>
              <a:rPr sz="1100"/>
              <a:t>It's the exact source the slide-3 bullet list was distilled from: complete medical history, medication review, full physical exam, vitals, ECG/echocardiogram, ~16 mL blood plus urine (including a pregnancy test where applicable), CT/PET/MRI imaging, and tumor tissue from biopsies — all before eligibility is even known.</a:t>
            </a:r>
          </a:p>
          <a:p>
            <a:r>
              <a:rPr sz="1100"/>
              <a:t>Let it sit on screen for a beat in near-silence; the wall of text is the point. No need to narrate every bullet.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Did you get permission to show this / is this someone's real data?</a:t>
            </a:r>
          </a:p>
          <a:p>
            <a:r>
              <a:rPr sz="1100"/>
              <a:t>A: It's the blank consent-form template itself, which is what Emory's IRB process produces and what a real patient would have signed — not a completed form with anyone's actual answers or identifying information.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" name="Shape 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(~5s):</a:t>
            </a:r>
          </a:p>
          <a:p>
            <a:r>
              <a:rPr i="1" sz="1300"/>
              <a:t>“And patients know it. Trust in pharma with personal data is very low.”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CISCRP 2023 Perceptions &amp; Insights Study (n=12,017): only 18% trust pharma 'a lot'; 65% say 'pharma only wants to make money.'</a:t>
            </a:r>
          </a:p>
          <a:p>
            <a:r>
              <a:rPr sz="1100"/>
              <a:t>NEJM / Mello et al. 2018 (n=771) surveyed people who had already enrolled in a trial, not just the general public: 31% were concerned about their data being stolen; 37% worried that data sharing discourages other people from enrolling.</a:t>
            </a:r>
          </a:p>
          <a:p>
            <a:r>
              <a:rPr sz="1100"/>
              <a:t>Backup stat, not on the slide: a Dutch/German broad-consent study found only 16.6% would allow industry (pharma) access to their data under broad consent, versus 92% who accept broad consent for academic research generally. People trust research — they don't trust the sponsor.</a:t>
            </a:r>
          </a:p>
          <a:p>
            <a:r>
              <a:rPr b="1" sz="1100"/>
              <a:t>SOURCES</a:t>
            </a:r>
          </a:p>
          <a:p>
            <a:r>
              <a:rPr sz="1000" i="1"/>
              <a:t>• CISCRP 2023 — https://www.ciscrp.org/services/research-services/perceptions-insights-studies/</a:t>
            </a:r>
          </a:p>
          <a:p>
            <a:r>
              <a:rPr sz="1000" i="1"/>
              <a:t>• Mello et al., NEJM 2018 — https://www.nejm.org/doi/full/10.1056/NEJMsa1713258</a:t>
            </a:r>
          </a:p>
          <a:p>
            <a:r>
              <a:rPr sz="1000" i="1"/>
              <a:t>• Dutch/German broad-consent study — https://pubmed.ncbi.nlm.nih.gov/30890543/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Isn't 18%/65% just general public opinion, not actual participants?</a:t>
            </a:r>
          </a:p>
          <a:p>
            <a:r>
              <a:rPr sz="1100"/>
              <a:t>A: The 31%/37% figures are from people who already enrolled (Mello, NEJM) — so the concern holds even among patients who already said yes once.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" name="Shape 1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(~6s):</a:t>
            </a:r>
          </a:p>
          <a:p>
            <a:r>
              <a:rPr i="1" sz="1300"/>
              <a:t>“Their concern is well founded — here are four breaches from the last three years.”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• Novo Nordisk (disclosed June 2026): ~11,500 trial participants; biomarkers, health data, and lifestyle factors exposed; hackers claimed 700K+ files / 1.3 TB.</a:t>
            </a:r>
          </a:p>
          <a:p>
            <a:r>
              <a:rPr sz="1100"/>
              <a:t>• DM Clinical Research (2024): 1.67 million recruitment records — names, medications, pregnancy status — sitting on an unprotected database with no password.</a:t>
            </a:r>
          </a:p>
          <a:p>
            <a:r>
              <a:rPr sz="1100"/>
              <a:t>• Cencora (2024): 1.4 million individuals; names, diagnoses, medications; sponsors affected include Novartis, Bayer, AbbVie, Regeneron.</a:t>
            </a:r>
          </a:p>
          <a:p>
            <a:r>
              <a:rPr sz="1100"/>
              <a:t>• 23andMe (2023): 6.9 million users; the stolen data was specifically marketed by attackers to target Ashkenazi Jewish and Asian users, during a period of rising hate crimes — a targeted exposure, not a random one.</a:t>
            </a:r>
          </a:p>
          <a:p>
            <a:r>
              <a:rPr b="1" sz="1100"/>
              <a:t>SOURCES</a:t>
            </a:r>
          </a:p>
          <a:p>
            <a:r>
              <a:rPr sz="1000" i="1"/>
              <a:t>• HIPAA Journal (Novo Nordisk, DM Clinical) — https://www.hipaajournal.com/</a:t>
            </a:r>
          </a:p>
          <a:p>
            <a:r>
              <a:rPr sz="1000" i="1"/>
              <a:t>• Drug Discovery Trends (Cencora, 2024)</a:t>
            </a:r>
          </a:p>
          <a:p>
            <a:r>
              <a:rPr sz="1000" i="1"/>
              <a:t>• Security.org (23andMe) — https://www.security.org/identity-theft/breach/23andme/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Doesn't HIPAA cover this?</a:t>
            </a:r>
          </a:p>
          <a:p>
            <a:r>
              <a:rPr sz="1100"/>
              <a:t>A: Nuanced, deliberately not on the slide because it reads as a legal technicality: pharma sponsors are almost never HIPAA 'covered entities' — that status is limited to health plans, clearinghouses, and providers. Research sites are covered; sponsors receive data under the patient's signed authorization, which is contract law, not HIPAA statute. HHS/OCR has stated research is not a 'covered function,' so sponsors usually aren't business associates either. A sponsor-side breach is pursued through state law and contract claims, not OCR/federal HIPAA penalties. (Wiggin &amp; Dana — https://www.wiggin.com/publication/hipaa-considerations-for-pharmaceutical-industry-sponsored-research/; HHS.gov Business Associates FAQ.)</a:t>
            </a:r>
          </a:p>
          <a:p>
            <a:r>
              <a:rPr b="1" sz="1100"/>
              <a:t>Q: Isn't a 'HIPAA-compliant' vendor system enough protection?</a:t>
            </a:r>
          </a:p>
          <a:p>
            <a:r>
              <a:rPr sz="1100"/>
              <a:t>A: Not necessarily — that usually means the vendor is a business associate to its healthcare customers, not that the pharma sponsor using the system is itself bound by HIPAA.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1" name="Shape 1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(~6s):</a:t>
            </a:r>
          </a:p>
          <a:p>
            <a:r>
              <a:rPr i="1" sz="1300"/>
              <a:t>“A breach of health data is not a temporary inconvenience — the consequences are lifelong.”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GINA (Genetic Information Nondiscrimination Act) only covers health insurance and employers with 15+ employees. Life, disability, and long-term-care insurers are NOT covered — they can legally use genetic/health data in underwriting decisions.</a:t>
            </a:r>
          </a:p>
          <a:p>
            <a:r>
              <a:rPr sz="1100"/>
              <a:t>550+ people have been documented by the EEOC as denied insurance or employment based on genetic predisposition alone.</a:t>
            </a:r>
          </a:p>
          <a:p>
            <a:r>
              <a:rPr sz="1100"/>
              <a:t>Ties back to slide 6: the 23andMe data marketed to target ethnic groups is the concrete example of 'permanent and weaponizable' — targeted harassment, not just GINA-style insurance discrimination.</a:t>
            </a:r>
          </a:p>
          <a:p>
            <a:r>
              <a:rPr b="1" sz="1100"/>
              <a:t>SOURCES</a:t>
            </a:r>
          </a:p>
          <a:p>
            <a:r>
              <a:rPr sz="1000" i="1"/>
              <a:t>• Genome.gov — https://www.genome.gov/about-genomics/policy-issues/Genetic-Discrimination</a:t>
            </a:r>
          </a:p>
          <a:p>
            <a:r>
              <a:rPr sz="1000" i="1"/>
              <a:t>• EEOC — https://www.eeoc.gov/genetic-information-discrimination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What exactly is GINA?</a:t>
            </a:r>
          </a:p>
          <a:p>
            <a:r>
              <a:rPr sz="1100"/>
              <a:t>A: A 2008 federal law barring health insurers and employers (15+) from using genetic information in coverage or hiring decisions. Its gaps are real and by design: life, disability, and long-term-care insurance are excluded.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9" name="Shape 1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(~6s):</a:t>
            </a:r>
          </a:p>
          <a:p>
            <a:r>
              <a:rPr i="1" sz="1300"/>
              <a:t>“The privacy problem is also an enrollment problem — trials are starved of participants.”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~40% of NCI (National Cancer Institute) network trials fail to complete accrual; fewer than 2% of adult cancer patients enroll in any trial at all (Craddock Lee et al., JCO 2019).</a:t>
            </a:r>
          </a:p>
          <a:p>
            <a:r>
              <a:rPr sz="1100"/>
              <a:t>Screen-failure rate has risen to 36.3%, at an estimated $800-$2,500 cost per failed screen.</a:t>
            </a:r>
          </a:p>
          <a:p>
            <a:r>
              <a:rPr sz="1100"/>
              <a:t>25-32% of rare-disease trials are terminated specifically for low accrual — not because the science failed, but because the logistics and trust failed.</a:t>
            </a:r>
          </a:p>
          <a:p>
            <a:r>
              <a:rPr b="1" sz="1100"/>
              <a:t>SOURCES</a:t>
            </a:r>
          </a:p>
          <a:p>
            <a:r>
              <a:rPr sz="1000" i="1"/>
              <a:t>• Craddock Lee et al., JCO 2019;37:1993-1996 — https://ascopubs.org/doi/10.1200/JCO.19.00101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Why do rare-disease trials get hit hardest?</a:t>
            </a:r>
          </a:p>
          <a:p>
            <a:r>
              <a:rPr sz="1100"/>
              <a:t>A: Smaller eligible population to start with, so the same travel/trust barriers that cause any one patient to drop out have an outsized effect on whether the trial can recruit enough people at all.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1" name="Shape 1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(~3s):</a:t>
            </a:r>
          </a:p>
          <a:p>
            <a:r>
              <a:rPr i="1" sz="1300"/>
              <a:t>“Both barriers have the same fix. First, privacy.”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Core mechanism: instead of sending biomarker values to the sponsor, the patient generates a zero-knowledge proof locally stating 'this record satisfies the eligibility policy' — true or false — without transmitting the values that made it true.</a:t>
            </a:r>
          </a:p>
          <a:p>
            <a:r>
              <a:rPr sz="1100"/>
              <a:t>This is a real, working zk-SNARK (EZKL compiling an ONNX policy graph to a Halo2 circuit), not a mockup: measured at ~2.05s to generate a proof and 27ms to verify it locally.</a:t>
            </a:r>
          </a:p>
          <a:p>
            <a:r>
              <a:rPr sz="1100"/>
              <a:t>Why this beats other privacy approaches: tokenization (e.g. Datavant) still needs a trusted third party holding linkage keys; federated learning needs a trusted aggregator; homomorphic encryption produces an encrypted output someone must still decrypt. A ZK proof produces a public, verifiable result with no decryption step and no intermediary at all.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Isn't this just encryption?</a:t>
            </a:r>
          </a:p>
          <a:p>
            <a:r>
              <a:rPr sz="1100"/>
              <a:t>A: No — encrypted data can still be decrypted by whoever holds the key. A ZK proof reveals nothing to decrypt; the sponsor never possesses anything the biomarkers could be recovered from.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" name="Shape 1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(~4s):</a:t>
            </a:r>
          </a:p>
          <a:p>
            <a:r>
              <a:rPr i="1" sz="1300"/>
              <a:t>“Second, logistics — the travel and time cost of screening disappears.”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Current burden: 67 miles average one-way travel (135 for rare disease), a 2-4 hour screening visit (often across multiple visits in a 2-4 week window), days to weeks waiting for lab results — and still up to 80% fail after all of it.</a:t>
            </a:r>
          </a:p>
          <a:p>
            <a:r>
              <a:rPr sz="1100"/>
              <a:t>With remote/decentralized verification: 89% completion vs. 60% for traditional trials; sites randomize 58% faster (0.79 vs. 0.50 participants/site/month); 63% of patients say they're more likely to join if telehealth is offered.</a:t>
            </a:r>
          </a:p>
          <a:p>
            <a:r>
              <a:rPr b="1" sz="1100"/>
              <a:t>SOURCES</a:t>
            </a:r>
          </a:p>
          <a:p>
            <a:r>
              <a:rPr sz="1000" i="1"/>
              <a:t>• CISCRP (travel distance) · ACRP (visit duration) — https://acrpnet.org/</a:t>
            </a:r>
          </a:p>
          <a:p>
            <a:r>
              <a:rPr sz="1000" i="1"/>
              <a:t>• PMC10643920 (decentralized trial outcomes) — https://www.ncbi.nlm.nih.gov/pmc/articles/PMC10643920/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Does VitaPod replace the in-person visit entirely?</a:t>
            </a:r>
          </a:p>
          <a:p>
            <a:r>
              <a:rPr sz="1100"/>
              <a:t>A: No — it front-loads the eligibility check so only patients who already qualify make the trip. Final confirmation, consent, and sample collection at the site are unchanged; we remove the wasted trips, not the trial itself.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hape 1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(~4s):</a:t>
            </a:r>
          </a:p>
          <a:p>
            <a:r>
              <a:rPr i="1" sz="1300"/>
              <a:t>“The market for privacy-preserving patient matching is already forming.”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AI-based patient matching: $641.6M -&gt; $1.9B by 2030 (25% CAGR). The broader clinical-trial recruitment market is $11.8B (2025), heading to $26.2B by 2035.</a:t>
            </a:r>
          </a:p>
          <a:p>
            <a:r>
              <a:rPr sz="1100"/>
              <a:t>Datavant's tokenization is already deployed across 270+ trials and 2,000+ hospitals, including the top 30 pharma brands — proof sponsors already pay for privacy infrastructure.</a:t>
            </a:r>
          </a:p>
          <a:p>
            <a:r>
              <a:rPr sz="1100"/>
              <a:t>The catch: tokenization still requires a trusted intermediary to hold linkage keys. A zero-knowledge proof needs nobody to hold anything — no intermediary at all.</a:t>
            </a:r>
          </a:p>
          <a:p>
            <a:r>
              <a:rPr b="1" sz="1100"/>
              <a:t>SOURCES</a:t>
            </a:r>
          </a:p>
          <a:p>
            <a:r>
              <a:rPr sz="1000" i="1"/>
              <a:t>• Grand View Research (AI patient matching market)</a:t>
            </a:r>
          </a:p>
          <a:p>
            <a:r>
              <a:rPr sz="1000" i="1"/>
              <a:t>• Roots Analysis, 2025 (clinical trial recruitment market)</a:t>
            </a:r>
          </a:p>
          <a:p>
            <a:r>
              <a:rPr sz="1000" i="1"/>
              <a:t>• Datavant — https://www.datavant.com/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So VitaPod competes with Datavant?</a:t>
            </a:r>
          </a:p>
          <a:p>
            <a:r>
              <a:rPr sz="1100"/>
              <a:t>A: Not directly — different layer. Datavant tokenizes identity for linking records; VitaPod proves an eligibility computation without any intermediary at all. The two could coexist.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Shape 2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(~4s):</a:t>
            </a:r>
          </a:p>
          <a:p>
            <a:r>
              <a:rPr i="1" sz="1300"/>
              <a:t>“Five buyer segments, each with a different reason to care.”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• CROs (IQVIA, Medpace) — reduce screen-failure costs directly.</a:t>
            </a:r>
          </a:p>
          <a:p>
            <a:r>
              <a:rPr sz="1100"/>
              <a:t>• Patient-matching platforms (Trialbee, Deep 6 AI, Antidote) — privacy as a competitive differentiator.</a:t>
            </a:r>
          </a:p>
          <a:p>
            <a:r>
              <a:rPr sz="1100"/>
              <a:t>• Decentralized-trial vendors (Medable — $2.1B valuation, Science 37, Curebase) — trust-building for remote enrollment, which is their whole business model.</a:t>
            </a:r>
          </a:p>
          <a:p>
            <a:r>
              <a:rPr sz="1100"/>
              <a:t>• Rare-disease programs (RARE-X, Global Genes) — reach patients who otherwise won't share data at all.</a:t>
            </a:r>
          </a:p>
          <a:p>
            <a:r>
              <a:rPr sz="1100"/>
              <a:t>• DeSci organizations (VitaDAO, Molecule) — need a privacy-preserving proof-of-contribution substrate for IP-NFT / funding mechanisms.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Do you have a signed pilot or customer?</a:t>
            </a:r>
          </a:p>
          <a:p>
            <a:r>
              <a:rPr sz="1100"/>
              <a:t>A: No — this is a buildathon prototype. These are the logical buyers because they already purchase adjacent privacy infrastructure (e.g. Datavant); no LOI or pilot exists yet.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Shape 2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(~2s):</a:t>
            </a:r>
          </a:p>
          <a:p>
            <a:r>
              <a:rPr i="1" sz="1300"/>
              <a:t>“Proofs also give patients something back.”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Once a patient can prove eligibility or participation without exposing data, that verified proof becomes a portable credential a sponsor can reward: drug-access discounts, priority access to future trials, travel/time compensation, aggregated personal health insights, patient advisory-board seats.</a:t>
            </a:r>
          </a:p>
          <a:p>
            <a:r>
              <a:rPr sz="1100"/>
              <a:t>Important boundary — don't overclaim: a proof does not by itself grant IP rights, equity, or royalties. Molecule/VitaDAO already provide the legal IP-NFT wrapper for research contributions; what's been missing is a privacy-preserving way to prove a contribution happened at all. VitaPod is the verifiable substrate, not the reward mechanism — sponsors and DAOs choose what to layer on top.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Do proofs give participants IP rights?</a:t>
            </a:r>
          </a:p>
          <a:p>
            <a:r>
              <a:rPr sz="1100"/>
              <a:t>A: Not directly — that requires separate legal frameworks: consent, contracts, IP assignment, regulatory review. What a proof gives you is cryptographic evidence that you participated. Sponsors or DAOs can attach any reward structure to that evidence.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0" name="Shape 2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(~5s):</a:t>
            </a:r>
          </a:p>
          <a:p>
            <a:r>
              <a:rPr i="1" sz="1300"/>
              <a:t>“Six steps, all but one of them on the patient's own machine.”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Three-stage architecture. (1) Browser: the React app parses the JSON record with a Zod schema — the single source of truth — and evaluates the same policy logic locally, in memory only, with no network calls. (2) Local proof pipeline: inside a pinned Docker container, the identical policy is encoded as an ONNX graph (age &gt;= 18, HbA1c between 5.7 and 8.5, eGFR &gt;= 60, all normalized to fixed-point integers), and EZKL compiles and proves it as a Halo2 zk-SNARK. (3) Blockchain: the registry contract verifies the proof and emits an event.</a:t>
            </a:r>
          </a:p>
          <a:p>
            <a:r>
              <a:rPr sz="1100"/>
              <a:t>Pinned toolchain for reproducibility: EZKL 23.0.5, ONNX 1.19.1, Python 3.11.2, native aarch64 — versions and artifact hashes recorded in a manifest.</a:t>
            </a:r>
          </a:p>
          <a:p>
            <a:r>
              <a:rPr sz="1100"/>
              <a:t>'No upload' is tested, not just claimed: an automated guard test scans the intake component's source for fetch / axios / XMLHttpRequest / sendBeacon / localStorage / IndexedDB and fails the build if any appear.</a:t>
            </a:r>
          </a:p>
          <a:p>
            <a:r>
              <a:rPr sz="1100"/>
              <a:t>This 4-biomarker threshold is deliberately the simplest possible demonstration, not the ceiling: the same EZKL/ONNX pipeline compiles arbitrarily complex models the same way — EZKL itself has demonstrated proofs over 18-million-parameter networks. Swapping in a richer clinical model is a model-export change, not an architecture change.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What if EZKL changes its output format later?</a:t>
            </a:r>
          </a:p>
          <a:p>
            <a:r>
              <a:rPr sz="1100"/>
              <a:t>A: Every dependency is version-pinned and recorded in a manifest (model hash, settings hash, EZKL/ONNX/Python versions) specifically so the proof pipeline stays reproducible on another machine.</a:t>
            </a:r>
          </a:p>
          <a:p>
            <a:r>
              <a:rPr b="1" sz="1100"/>
              <a:t>Q: Is this actually zero-knowledge, or just hashing?</a:t>
            </a:r>
          </a:p>
          <a:p>
            <a:r>
              <a:rPr sz="1100"/>
              <a:t>A: It's a real zk-SNARK (Halo2 via EZKL) over an ONNX computational graph — cryptographic proof of correct computation, not a hash comparison.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7" name="Shape 2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(~4s):</a:t>
            </a:r>
          </a:p>
          <a:p>
            <a:r>
              <a:rPr i="1" sz="1300"/>
              <a:t>“This is the entire on-chain footprint. Three hashes, no biology.”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ProofAccepted event fields: submitter (wallet address), policyDigest (keccak256 of the policy identifier), proofDigest (keccak256 of the proof bytes). Nothing else is stored in the registry.</a:t>
            </a:r>
          </a:p>
          <a:p>
            <a:r>
              <a:rPr sz="1100"/>
              <a:t>Never present anywhere in the proof, calldata, event logs, or storage: age, HbA1c, eGFR, or any biomarker value — checked by an automated privacy-scan test on the bundle, not just an assertion.</a:t>
            </a:r>
          </a:p>
          <a:p>
            <a:r>
              <a:rPr sz="1100"/>
              <a:t>Replay protection: the registry maps policyDigest -&gt; wallet -&gt; boolean; a second submission from the same wallet for the same policy reverts with 'Wallet already accepted.'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Could someone reverse the hashes to recover the biomarker values?</a:t>
            </a:r>
          </a:p>
          <a:p>
            <a:r>
              <a:rPr sz="1100"/>
              <a:t>A: No — keccak256 and the zk-SNARK proof are one-way; there is no computationally feasible way to recover inputs from a hash or from proof bytes.</a:t>
            </a:r>
          </a:p>
          <a:p>
            <a:r>
              <a:rPr b="1" sz="1100"/>
              <a:t>Q: What if I lose access to my wallet?</a:t>
            </a:r>
          </a:p>
          <a:p>
            <a:r>
              <a:rPr sz="1100"/>
              <a:t>A: No recovery mechanism exists yet — a known limitation tied to the identity-binding gap (a proof is bound to a wallet, not a verified person). See the roadmap slide.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3" name="Shape 2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(~5s):</a:t>
            </a:r>
          </a:p>
          <a:p>
            <a:r>
              <a:rPr i="1" sz="1300"/>
              <a:t>“Everything here is running today, with these numbers measured on a laptop.”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Full stack: React + Vite + Tailwind (frontend, local-only); viem + wagmi (wallet); Zod (schema); EZKL v23.0.5 + ONNX (proof pipeline); Halo2 (proof system); Hardhat + generated verifier (contracts); TrialProofRegistry.sol (registry); Docker Compose, arm64 (deployment).</a:t>
            </a:r>
          </a:p>
          <a:p>
            <a:r>
              <a:rPr sz="1100"/>
              <a:t>Measured performance, native linux/arm64 inside the pinned container: setup 5.665s (one-time — model export, calibration, circuit compile, key generation), prove (eligible) 2.050s, prove (ineligible) 1.907s, verify (local) 0.027s.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Does this run on a phone, or at production scale?</a:t>
            </a:r>
          </a:p>
          <a:p>
            <a:r>
              <a:rPr sz="1100"/>
              <a:t>A: Demonstrated today on laptop-class arm64 hardware inside Docker. Browser-native (WASM) proving is future work, not yet built — we say that explicitly rather than imply it exists.</a:t>
            </a:r>
          </a:p>
          <a:p>
            <a:r>
              <a:rPr b="1" sz="1100"/>
              <a:t>Q: Is the code open source?</a:t>
            </a:r>
          </a:p>
          <a:p>
            <a:r>
              <a:rPr sz="1100"/>
              <a:t>A: Yes — github.com/dyrtyData/VitaPod, MIT license; synthetic fixtures only, no real health data anywhere in the repo.</a:t>
            </a:r>
          </a:p>
          <a:p>
            <a:r>
              <a:rPr b="1" sz="1100"/>
              <a:t>Q: Is this deployed anywhere beyond Docker/local?</a:t>
            </a:r>
          </a:p>
          <a:p>
            <a:r>
              <a:rPr sz="1100"/>
              <a:t>A: Yes — HashKey Chain Testnet (chain 133). Halo2Verifier at 0x22ec2ee3c88632f5a9c03afc74cb4027a54255ab, TrialProofRegistry at 0xe4a8412d544cf515eb869164855f24bc4d4fefd9 — both fully source-verified on the Blockscout explorer (testnet-explorer.hskchain.net), not just bytecode-deployed. Confirmed via raw RPC/API, not just tool output: bytecode matches, registry-to-verifier wiring is correct, a real committed proof was simulated against submit() and came back accepted at 648,593 gas, and the verified explorer source re-hashes to exactly match the committed source files. Mainnet (chain 177) was deliberately not touched.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1" name="Shape 3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(~6s):</a:t>
            </a:r>
          </a:p>
          <a:p>
            <a:r>
              <a:rPr i="1" sz="1300"/>
              <a:t>“Phase one is built and demoed today; two through four are the path from here.”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BACKGROUND</a:t>
            </a:r>
          </a:p>
          <a:p>
            <a:r>
              <a:rPr sz="1100"/>
              <a:t>Phase 2 — Authenticated inputs: today's proof shows the computation ran correctly, not that the input came from a real lab. Phase 2 adds provenance (signed lab results, FHIR provenance, or zkTLS) to close that gap.</a:t>
            </a:r>
          </a:p>
          <a:p>
            <a:r>
              <a:rPr sz="1100"/>
              <a:t>Phase 3 — Scientific bounties: a sponsor posts eligibility criteria on-chain with a reward; a patient's proof auto-claims it when it verifies.</a:t>
            </a:r>
          </a:p>
          <a:p>
            <a:r>
              <a:rPr sz="1100"/>
              <a:t>Phase 4 — Proof-of-contribution: proofs generated across enrollment, milestones, and completion accumulate into a track record that can unlock benefits (see the proof-of-contribution slide).</a:t>
            </a:r>
          </a:p>
          <a:p>
            <a:r>
              <a:rPr sz="1100"/>
              <a:t>Be candid about today's two biggest limitations: (1) Data provenance — nothing today stops someone from proving over a fabricated record; (2) Identity binding — the registry binds a proof to a wallet, not a verified unique person (one person could use multiple wallets; a credential layer like World ID or zkPassport would be needed to close this).</a:t>
            </a:r>
          </a:p>
          <a:p>
            <a:r>
              <a:rPr b="1" sz="1100"/>
              <a:t>IF ASKED</a:t>
            </a:r>
          </a:p>
          <a:p>
            <a:r>
              <a:rPr b="1" sz="1100"/>
              <a:t>Q: What stops someone from faking their input data today?</a:t>
            </a:r>
          </a:p>
          <a:p>
            <a:r>
              <a:rPr sz="1100"/>
              <a:t>A: Nothing yet, and we say so directly — the proof guarantees the computation ran correctly, not that the input is authentic. That's exactly what Phase 2 is for.</a:t>
            </a:r>
          </a:p>
          <a:p>
            <a:r>
              <a:rPr b="1" sz="1100"/>
              <a:t>Q: Couldn't one person submit from ten different wallets?</a:t>
            </a:r>
          </a:p>
          <a:p>
            <a:r>
              <a:rPr sz="1100"/>
              <a:t>A: Yes, today — the proof binds to a wallet, not a person. Identity-binding (e.g. World ID, zkPassport) is a deliberately separate, unsolved problem we've scoped for later, not silently assumed away.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1" name="Shape 3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(~7s):</a:t>
            </a:r>
          </a:p>
          <a:p>
            <a:r>
              <a:rPr i="1" sz="1300"/>
              <a:t>“Switching to the live app now — load labs, see the preview, generate the proof, verify on chain.”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DEMO BEAT SHEET</a:t>
            </a:r>
          </a:p>
          <a:p>
            <a:r>
              <a:rPr sz="1100"/>
              <a:t>• 1. Load eligible.json — point at the age/HbA1c/eGFR fields and the 'Eligible' result. Say: evaluated entirely in-browser, no upload.</a:t>
            </a:r>
          </a:p>
          <a:p>
            <a:r>
              <a:rPr sz="1100"/>
              <a:t>• 2. Import the CLI-generated proof bundle — point at the policy digest / model hash in the middle column. Say explicitly what's absent: no age, no HbA1c, no eGFR.</a:t>
            </a:r>
          </a:p>
          <a:p>
            <a:r>
              <a:rPr sz="1100"/>
              <a:t>• 3. Connect wallet, submit — approve in the wallet, point at the emitted ProofAccepted(wallet, policyDigest, proofDigest) event.</a:t>
            </a:r>
          </a:p>
          <a:p>
            <a:r>
              <a:rPr sz="1100"/>
              <a:t>• 4. The 'aha' beat — submit the same proof again, show the 'wallet already accepted' revert: one person, one verified contribution, no double-claiming.</a:t>
            </a:r>
          </a:p>
          <a:p>
            <a:r>
              <a:rPr b="1" sz="1100"/>
              <a:t>IF THE DEMO BREAKS</a:t>
            </a:r>
          </a:p>
          <a:p>
            <a:r>
              <a:rPr sz="1100"/>
              <a:t>Recovery line: 'The container's having a moment — let me walk you through what you'd see,' then narrate the three-column flow from memory (browser -&gt; local proof artifact -&gt; chain).</a:t>
            </a:r>
          </a:p>
          <a:p>
            <a:r>
              <a:rPr b="1" sz="1100"/>
              <a:t>IF ASKED (mid-demo)</a:t>
            </a:r>
          </a:p>
          <a:p>
            <a:r>
              <a:rPr b="1" sz="1100"/>
              <a:t>Q: Why isn't the raw lab file shown anywhere on-chain?</a:t>
            </a:r>
          </a:p>
          <a:p>
            <a:r>
              <a:rPr sz="1100"/>
              <a:t>A: Point back at the 'what the blockchain sees' slide — literally nothing but the wallet address and two hashes ever leaves the local machine.</a:t>
            </a:r>
          </a:p>
          <a:p>
            <a:r>
              <a:rPr b="1" sz="1100"/>
              <a:t>Q: Could you show this on the public testnet instead of localhost?</a:t>
            </a:r>
          </a:p>
          <a:p>
            <a:r>
              <a:rPr sz="1100"/>
              <a:t>A: The same contracts are already live and source-verified on HashKey Chain Testnet (chain 133) — Halo2Verifier 0x22ec2ee3c88632f5a9c03afc74cb4027a54255ab, TrialProofRegistry 0xe4a8412d544cf515eb869164855f24bc4d4fefd9 — and a real proof simulates as accepted there too. We're running the live click-through on local Hardhat for reliability during the timed demo; happy to pull up the testnet explorer right after.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9" name="Shape 3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sz="1200"/>
              <a:t>LIVE SCRIPT — read aloud (~7s):</a:t>
            </a:r>
          </a:p>
          <a:p>
            <a:r>
              <a:rPr i="1" sz="1300"/>
              <a:t>“VitaPod is the privacy primitive for trustless clinical trials. Repo is public — happy to take questions.”</a:t>
            </a:r>
          </a:p>
          <a:p>
            <a:r>
              <a:rPr sz="1000"/>
              <a:t>────────────────────────────────────────</a:t>
            </a:r>
          </a:p>
          <a:p>
            <a:r>
              <a:rPr b="1" sz="1100"/>
              <a:t>MASTER Q&amp;A INDEX — for the open Q&amp;A period</a:t>
            </a:r>
          </a:p>
          <a:p>
            <a:r>
              <a:rPr b="1" sz="1100"/>
              <a:t>Q: Doesn't this already exist?</a:t>
            </a:r>
          </a:p>
          <a:p>
            <a:r>
              <a:rPr sz="1100"/>
              <a:t>A: No runnable open-source example combining EZKL + ONNX + a generated Solidity verifier + an on-chain registry for clinical eligibility was found. Academic proposals exist as papers without shipped code (TeleZK-L2, TeleZK-FL, zkFL-Health, CoSMeTIC). Solve.Care's Care.Trials (2023) uses ZK for identity, not zkML over biomarkers. EZKL's own docs have no healthcare example. VitaPod is the first runnable reference implementation of this specific combination — not a new idea, the first proof the idea works.</a:t>
            </a:r>
          </a:p>
          <a:p>
            <a:r>
              <a:rPr b="1" sz="1100"/>
              <a:t>Q: Doesn't HIPAA already cover this?</a:t>
            </a:r>
          </a:p>
          <a:p>
            <a:r>
              <a:rPr sz="1100"/>
              <a:t>A: Pharma sponsors are almost never HIPAA covered entities; data reaching them is bound by contract/authorization, not federal statute (see the breaches slide). VitaPod sidesteps the question entirely — it never transmits PHI, so there's nothing for HIPAA to cover.</a:t>
            </a:r>
          </a:p>
          <a:p>
            <a:r>
              <a:rPr b="1" sz="1100"/>
              <a:t>Q: Do proofs give participants IP rights?</a:t>
            </a:r>
          </a:p>
          <a:p>
            <a:r>
              <a:rPr sz="1100"/>
              <a:t>A: No, not directly (see the proof-of-contribution slide) — that requires separate legal frameworks. VitaPod is the verifiable substrate, not the reward mechanism.</a:t>
            </a:r>
          </a:p>
          <a:p>
            <a:r>
              <a:rPr b="1" sz="1100"/>
              <a:t>Q: How do you know the input data is real?</a:t>
            </a:r>
          </a:p>
          <a:p>
            <a:r>
              <a:rPr sz="1100"/>
              <a:t>A: We don't, yet (see the roadmap slide) — explicitly out of scope for this prototype; Phase 2 (zkTLS / signed labs) is the next step.</a:t>
            </a:r>
          </a:p>
          <a:p>
            <a:r>
              <a:rPr b="1" sz="1100"/>
              <a:t>Q: How fast is this, really?</a:t>
            </a:r>
          </a:p>
          <a:p>
            <a:r>
              <a:rPr sz="1100"/>
              <a:t>A: 5.7s one-time setup, ~2s to prove, 27ms to verify (see the technical-stack slide).</a:t>
            </a:r>
          </a:p>
          <a:p>
            <a:r>
              <a:rPr b="1" sz="1100"/>
              <a:t>Q: What's the business model?</a:t>
            </a:r>
          </a:p>
          <a:p>
            <a:r>
              <a:rPr sz="1100"/>
              <a:t>A: Not fully designed yet. Likely buyers: CROs, patient-matching platforms, DCT vendors, rare-disease programs, DeSci orgs (see the 'who buys this' slide) — sponsors already pay for privacy infrastructure like Datavant.</a:t>
            </a:r>
          </a:p>
          <a:p>
            <a:r>
              <a:rPr b="1" sz="1100"/>
              <a:t>Q: Can I see the code, or a written report?</a:t>
            </a:r>
          </a:p>
          <a:p>
            <a:r>
              <a:rPr sz="1100"/>
              <a:t>A: Code: github.com/dyrtyData/VitaPod (MIT license). A citation-backed write-up also exists in the repo at docs/report/vitapod-zkml-eligibility.md (and as a PDF) if anyone wants the full methods/results/references.</a:t>
            </a:r>
          </a:p>
          <a:p>
            <a:r>
              <a:rPr b="1" sz="1100"/>
              <a:t>Q: Is this live on a real chain, or just local?</a:t>
            </a:r>
          </a:p>
          <a:p>
            <a:r>
              <a:rPr sz="1100"/>
              <a:t>A: Both. Reproducible local Hardhat drives the timed demo; independently, it's also deployed and fully source-verified on HashKey Chain Testnet (chain 133) — Halo2Verifier 0x22ec2ee3c88632f5a9c03afc74cb4027a54255ab, TrialProofRegistry 0xe4a8412d544cf515eb869164855f24bc4d4fefd9, testnet-explorer.hskchain.net. A real proof simulates as accepted on-chain there (648,593 gas), and the verified explorer source hashes exactly match the committed source files. Mainnet was not touched.</a:t>
            </a:r>
          </a:p>
          <a:p>
            <a:r>
              <a:rPr b="1" sz="1100"/>
              <a:t>Q: Why does 'Decentralized Science' show up on the closing slide — is this just a clinical-trial tool?</a:t>
            </a:r>
          </a:p>
          <a:p>
            <a:r>
              <a:rPr sz="1100"/>
              <a:t>A: The architecture is deliberately generic: the same EZKL/ONNX pipeline that proves a 4-biomarker threshold today proves any deterministic computation over private data, and swapping in a complex ML model doesn't touch the registry or verifier contracts. That's the actual pitch for DeSci — a privacy-preserving proof-of-computation primitive that any decentralized science project needing 'prove this happened, without revealing the private input' can build on, not a clinical-trials-only tool.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Appendix — architecture reference infographic (supplementary, not part of the timed pitch).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12763500" y="-1333501"/>
            <a:ext cx="7239000" cy="7239001"/>
          </a:xfrm>
          <a:prstGeom prst="ellipse">
            <a:avLst/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11906250" y="7810500"/>
            <a:ext cx="4953000" cy="4953000"/>
          </a:xfrm>
          <a:prstGeom prst="ellipse">
            <a:avLst/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1047750" y="2528441"/>
            <a:ext cx="5055469" cy="612428"/>
          </a:xfrm>
          <a:prstGeom prst="roundRect">
            <a:avLst>
              <a:gd name="adj" fmla="val 5000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1333499" y="2642741"/>
            <a:ext cx="4635634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EAG GLOBAL BUILDATHON 2026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1047750" y="3559969"/>
            <a:ext cx="12363450" cy="184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77240">
              <a:lnSpc>
                <a:spcPct val="82609"/>
              </a:lnSpc>
              <a:defRPr spc="-255" sz="1275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VitaPod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1047750" y="5636419"/>
            <a:ext cx="9810750" cy="1356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sz="4455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Privacy-Preserving Clinical Trial Eligibility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1047750" y="7446168"/>
            <a:ext cx="12363450" cy="46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1081"/>
              </a:lnSpc>
              <a:defRPr b="1" sz="2400">
                <a:solidFill>
                  <a:srgbClr val="645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Track: Local AI, Private AI &amp; User-Owned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1047750" y="914400"/>
            <a:ext cx="1221805" cy="544786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"/>
          <p:cNvSpPr txBox="1"/>
          <p:nvPr/>
        </p:nvSpPr>
        <p:spPr>
          <a:xfrm>
            <a:off x="1295399" y="1009649"/>
            <a:ext cx="802706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TEAM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Team</a:t>
            </a:r>
          </a:p>
        </p:txBody>
      </p:sp>
      <p:sp>
        <p:nvSpPr>
          <p:cNvPr id="33" name="Shape 3"/>
          <p:cNvSpPr/>
          <p:nvPr/>
        </p:nvSpPr>
        <p:spPr>
          <a:xfrm>
            <a:off x="1047750" y="3948186"/>
            <a:ext cx="5143500" cy="4121796"/>
          </a:xfrm>
          <a:prstGeom prst="roundRect">
            <a:avLst>
              <a:gd name="adj" fmla="val 6470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4"/>
          <p:cNvSpPr/>
          <p:nvPr/>
        </p:nvSpPr>
        <p:spPr>
          <a:xfrm>
            <a:off x="1466850" y="4443486"/>
            <a:ext cx="914400" cy="914401"/>
          </a:xfrm>
          <a:prstGeom prst="ellipse">
            <a:avLst/>
          </a:prstGeom>
          <a:solidFill>
            <a:srgbClr val="F6A0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5"/>
          <p:cNvSpPr txBox="1"/>
          <p:nvPr/>
        </p:nvSpPr>
        <p:spPr>
          <a:xfrm>
            <a:off x="1466850" y="5681736"/>
            <a:ext cx="4735830" cy="520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9216"/>
              </a:lnSpc>
              <a:defRPr sz="33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Diana Chang</a:t>
            </a:r>
          </a:p>
        </p:txBody>
      </p:sp>
      <p:sp>
        <p:nvSpPr>
          <p:cNvPr id="36" name="Text 6"/>
          <p:cNvSpPr txBox="1"/>
          <p:nvPr/>
        </p:nvSpPr>
        <p:spPr>
          <a:xfrm>
            <a:off x="1466850" y="6316041"/>
            <a:ext cx="4735830" cy="436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7886"/>
              </a:lnSpc>
              <a:defRPr b="1" sz="23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Engineer, Project Lead</a:t>
            </a:r>
          </a:p>
        </p:txBody>
      </p:sp>
      <p:sp>
        <p:nvSpPr>
          <p:cNvPr id="37" name="Text 7"/>
          <p:cNvSpPr txBox="1"/>
          <p:nvPr/>
        </p:nvSpPr>
        <p:spPr>
          <a:xfrm>
            <a:off x="1466850" y="6828904"/>
            <a:ext cx="4735830" cy="410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865"/>
              </a:lnSpc>
              <a:defRPr sz="2100">
                <a:solidFill>
                  <a:srgbClr val="645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PharmD, MS Health IT</a:t>
            </a:r>
          </a:p>
        </p:txBody>
      </p:sp>
      <p:sp>
        <p:nvSpPr>
          <p:cNvPr id="38" name="Shape 8"/>
          <p:cNvSpPr/>
          <p:nvPr/>
        </p:nvSpPr>
        <p:spPr>
          <a:xfrm>
            <a:off x="6572250" y="3948186"/>
            <a:ext cx="5143500" cy="4121796"/>
          </a:xfrm>
          <a:prstGeom prst="roundRect">
            <a:avLst>
              <a:gd name="adj" fmla="val 6470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9"/>
          <p:cNvSpPr/>
          <p:nvPr/>
        </p:nvSpPr>
        <p:spPr>
          <a:xfrm>
            <a:off x="6991350" y="4443486"/>
            <a:ext cx="914400" cy="914401"/>
          </a:xfrm>
          <a:prstGeom prst="ellipse">
            <a:avLst/>
          </a:prstGeom>
          <a:solidFill>
            <a:srgbClr val="AEBF9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0"/>
          <p:cNvSpPr txBox="1"/>
          <p:nvPr/>
        </p:nvSpPr>
        <p:spPr>
          <a:xfrm>
            <a:off x="6991350" y="5681736"/>
            <a:ext cx="4735830" cy="520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9216"/>
              </a:lnSpc>
              <a:defRPr sz="33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Mehdi-Loup Nasom</a:t>
            </a:r>
          </a:p>
        </p:txBody>
      </p:sp>
      <p:sp>
        <p:nvSpPr>
          <p:cNvPr id="41" name="Text 11"/>
          <p:cNvSpPr txBox="1"/>
          <p:nvPr/>
        </p:nvSpPr>
        <p:spPr>
          <a:xfrm>
            <a:off x="6991350" y="6316041"/>
            <a:ext cx="4735830" cy="436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7886"/>
              </a:lnSpc>
              <a:defRPr b="1" sz="23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Blockchain/Web3 Developer</a:t>
            </a:r>
          </a:p>
        </p:txBody>
      </p:sp>
      <p:sp>
        <p:nvSpPr>
          <p:cNvPr id="42" name="Text 12"/>
          <p:cNvSpPr txBox="1"/>
          <p:nvPr/>
        </p:nvSpPr>
        <p:spPr>
          <a:xfrm>
            <a:off x="6991350" y="6828904"/>
            <a:ext cx="4735830" cy="410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865"/>
              </a:lnSpc>
              <a:defRPr sz="2100">
                <a:solidFill>
                  <a:srgbClr val="645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ENSC Ingénieur en Cognitique</a:t>
            </a:r>
          </a:p>
        </p:txBody>
      </p:sp>
      <p:sp>
        <p:nvSpPr>
          <p:cNvPr id="43" name="Shape 13"/>
          <p:cNvSpPr/>
          <p:nvPr/>
        </p:nvSpPr>
        <p:spPr>
          <a:xfrm>
            <a:off x="12096750" y="3948186"/>
            <a:ext cx="5143500" cy="4121796"/>
          </a:xfrm>
          <a:prstGeom prst="roundRect">
            <a:avLst>
              <a:gd name="adj" fmla="val 6470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14"/>
          <p:cNvSpPr/>
          <p:nvPr/>
        </p:nvSpPr>
        <p:spPr>
          <a:xfrm>
            <a:off x="12515850" y="4443486"/>
            <a:ext cx="914400" cy="914401"/>
          </a:xfrm>
          <a:prstGeom prst="ellipse">
            <a:avLst/>
          </a:prstGeom>
          <a:solidFill>
            <a:srgbClr val="C0B6A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5"/>
          <p:cNvSpPr txBox="1"/>
          <p:nvPr/>
        </p:nvSpPr>
        <p:spPr>
          <a:xfrm>
            <a:off x="12515850" y="5681736"/>
            <a:ext cx="4735830" cy="520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9216"/>
              </a:lnSpc>
              <a:defRPr sz="33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Mariana Uchoa</a:t>
            </a:r>
          </a:p>
        </p:txBody>
      </p:sp>
      <p:sp>
        <p:nvSpPr>
          <p:cNvPr id="46" name="Text 16"/>
          <p:cNvSpPr txBox="1"/>
          <p:nvPr/>
        </p:nvSpPr>
        <p:spPr>
          <a:xfrm>
            <a:off x="12515850" y="6316041"/>
            <a:ext cx="4735830" cy="436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7886"/>
              </a:lnSpc>
              <a:defRPr b="1" sz="23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Scientific Advisor</a:t>
            </a:r>
          </a:p>
        </p:txBody>
      </p:sp>
      <p:sp>
        <p:nvSpPr>
          <p:cNvPr id="47" name="Text 17"/>
          <p:cNvSpPr txBox="1"/>
          <p:nvPr/>
        </p:nvSpPr>
        <p:spPr>
          <a:xfrm>
            <a:off x="12515849" y="6828904"/>
            <a:ext cx="4434461" cy="783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6865"/>
              </a:lnSpc>
              <a:defRPr sz="2100">
                <a:solidFill>
                  <a:srgbClr val="645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PhD Neuroscience, former clinical trial lead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1047750" y="914400"/>
            <a:ext cx="2385417" cy="544786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1"/>
          <p:cNvSpPr txBox="1"/>
          <p:nvPr/>
        </p:nvSpPr>
        <p:spPr>
          <a:xfrm>
            <a:off x="1295400" y="1009649"/>
            <a:ext cx="1966317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53" name="Text 2"/>
          <p:cNvSpPr txBox="1"/>
          <p:nvPr/>
        </p:nvSpPr>
        <p:spPr>
          <a:xfrm>
            <a:off x="1047750" y="1763984"/>
            <a:ext cx="13735050" cy="1572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2069"/>
              </a:lnSpc>
              <a:defRPr spc="-100" sz="57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Patients Hand Over Just to Screen</a:t>
            </a:r>
          </a:p>
        </p:txBody>
      </p:sp>
      <p:sp>
        <p:nvSpPr>
          <p:cNvPr id="54" name="Shape 3"/>
          <p:cNvSpPr/>
          <p:nvPr/>
        </p:nvSpPr>
        <p:spPr>
          <a:xfrm>
            <a:off x="1047750" y="3831952"/>
            <a:ext cx="7943850" cy="997224"/>
          </a:xfrm>
          <a:prstGeom prst="roundRect">
            <a:avLst>
              <a:gd name="adj" fmla="val 26744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4"/>
          <p:cNvSpPr txBox="1"/>
          <p:nvPr/>
        </p:nvSpPr>
        <p:spPr>
          <a:xfrm>
            <a:off x="1390650" y="4079602"/>
            <a:ext cx="7496365" cy="54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Complete medical history</a:t>
            </a:r>
          </a:p>
        </p:txBody>
      </p:sp>
      <p:sp>
        <p:nvSpPr>
          <p:cNvPr id="56" name="Shape 5"/>
          <p:cNvSpPr/>
          <p:nvPr/>
        </p:nvSpPr>
        <p:spPr>
          <a:xfrm>
            <a:off x="9296400" y="3831952"/>
            <a:ext cx="7943850" cy="997224"/>
          </a:xfrm>
          <a:prstGeom prst="roundRect">
            <a:avLst>
              <a:gd name="adj" fmla="val 26744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6"/>
          <p:cNvSpPr txBox="1"/>
          <p:nvPr/>
        </p:nvSpPr>
        <p:spPr>
          <a:xfrm>
            <a:off x="9639300" y="4079602"/>
            <a:ext cx="7496365" cy="54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 current and past medications</a:t>
            </a:r>
          </a:p>
        </p:txBody>
      </p:sp>
      <p:sp>
        <p:nvSpPr>
          <p:cNvPr id="58" name="Shape 7"/>
          <p:cNvSpPr/>
          <p:nvPr/>
        </p:nvSpPr>
        <p:spPr>
          <a:xfrm>
            <a:off x="1047750" y="5019675"/>
            <a:ext cx="7943850" cy="997224"/>
          </a:xfrm>
          <a:prstGeom prst="roundRect">
            <a:avLst>
              <a:gd name="adj" fmla="val 26744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8"/>
          <p:cNvSpPr txBox="1"/>
          <p:nvPr/>
        </p:nvSpPr>
        <p:spPr>
          <a:xfrm>
            <a:off x="1390650" y="5267325"/>
            <a:ext cx="7496365" cy="540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Full physical examination</a:t>
            </a:r>
          </a:p>
        </p:txBody>
      </p:sp>
      <p:sp>
        <p:nvSpPr>
          <p:cNvPr id="60" name="Shape 9"/>
          <p:cNvSpPr/>
          <p:nvPr/>
        </p:nvSpPr>
        <p:spPr>
          <a:xfrm>
            <a:off x="9296400" y="5019675"/>
            <a:ext cx="7943850" cy="997224"/>
          </a:xfrm>
          <a:prstGeom prst="roundRect">
            <a:avLst>
              <a:gd name="adj" fmla="val 26744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0"/>
          <p:cNvSpPr txBox="1"/>
          <p:nvPr/>
        </p:nvSpPr>
        <p:spPr>
          <a:xfrm>
            <a:off x="9639300" y="5267325"/>
            <a:ext cx="7496365" cy="540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Blood samples (16mL) and urine</a:t>
            </a:r>
          </a:p>
        </p:txBody>
      </p:sp>
      <p:sp>
        <p:nvSpPr>
          <p:cNvPr id="62" name="Shape 11"/>
          <p:cNvSpPr/>
          <p:nvPr/>
        </p:nvSpPr>
        <p:spPr>
          <a:xfrm>
            <a:off x="1047750" y="6207397"/>
            <a:ext cx="7943850" cy="997224"/>
          </a:xfrm>
          <a:prstGeom prst="roundRect">
            <a:avLst>
              <a:gd name="adj" fmla="val 26744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2"/>
          <p:cNvSpPr txBox="1"/>
          <p:nvPr/>
        </p:nvSpPr>
        <p:spPr>
          <a:xfrm>
            <a:off x="1390650" y="6455047"/>
            <a:ext cx="7496365" cy="54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ECG and echocardiogram</a:t>
            </a:r>
          </a:p>
        </p:txBody>
      </p:sp>
      <p:sp>
        <p:nvSpPr>
          <p:cNvPr id="64" name="Shape 13"/>
          <p:cNvSpPr/>
          <p:nvPr/>
        </p:nvSpPr>
        <p:spPr>
          <a:xfrm>
            <a:off x="9296400" y="6207397"/>
            <a:ext cx="7943850" cy="997224"/>
          </a:xfrm>
          <a:prstGeom prst="roundRect">
            <a:avLst>
              <a:gd name="adj" fmla="val 26744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14"/>
          <p:cNvSpPr txBox="1"/>
          <p:nvPr/>
        </p:nvSpPr>
        <p:spPr>
          <a:xfrm>
            <a:off x="9639300" y="6455047"/>
            <a:ext cx="7496365" cy="54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CT, PET, or MRI imaging</a:t>
            </a:r>
          </a:p>
        </p:txBody>
      </p:sp>
      <p:sp>
        <p:nvSpPr>
          <p:cNvPr id="66" name="Shape 15"/>
          <p:cNvSpPr/>
          <p:nvPr/>
        </p:nvSpPr>
        <p:spPr>
          <a:xfrm>
            <a:off x="1047750" y="7395120"/>
            <a:ext cx="7943850" cy="997224"/>
          </a:xfrm>
          <a:prstGeom prst="roundRect">
            <a:avLst>
              <a:gd name="adj" fmla="val 26744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6"/>
          <p:cNvSpPr txBox="1"/>
          <p:nvPr/>
        </p:nvSpPr>
        <p:spPr>
          <a:xfrm>
            <a:off x="1390650" y="7642770"/>
            <a:ext cx="7496365" cy="54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Tumor tissue from biopsies</a:t>
            </a:r>
          </a:p>
        </p:txBody>
      </p:sp>
      <p:sp>
        <p:nvSpPr>
          <p:cNvPr id="68" name="Text 17"/>
          <p:cNvSpPr txBox="1"/>
          <p:nvPr/>
        </p:nvSpPr>
        <p:spPr>
          <a:xfrm>
            <a:off x="1047750" y="9049717"/>
            <a:ext cx="13620750" cy="475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7692"/>
              </a:lnSpc>
              <a:defRPr b="1" sz="25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 this happens BEFORE you know if you qualify. Up to 80% of screened patients fail.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1047750" y="914400"/>
            <a:ext cx="2385417" cy="544786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1"/>
          <p:cNvSpPr txBox="1"/>
          <p:nvPr/>
        </p:nvSpPr>
        <p:spPr>
          <a:xfrm>
            <a:off x="1295400" y="1009650"/>
            <a:ext cx="1966317" cy="392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pic>
        <p:nvPicPr>
          <p:cNvPr id="7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17874" y="336549"/>
            <a:ext cx="10947401" cy="9613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1047750" y="914400"/>
            <a:ext cx="2385417" cy="544786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"/>
          <p:cNvSpPr txBox="1"/>
          <p:nvPr/>
        </p:nvSpPr>
        <p:spPr>
          <a:xfrm>
            <a:off x="1295400" y="1009649"/>
            <a:ext cx="1966317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80" name="Text 2"/>
          <p:cNvSpPr txBox="1"/>
          <p:nvPr/>
        </p:nvSpPr>
        <p:spPr>
          <a:xfrm>
            <a:off x="1047750" y="1763984"/>
            <a:ext cx="13735050" cy="1572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lnSpc>
                <a:spcPct val="92069"/>
              </a:lnSpc>
              <a:defRPr spc="-99" sz="5643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Patients Don't Trust Pharma With Their Data</a:t>
            </a:r>
          </a:p>
        </p:txBody>
      </p:sp>
      <p:sp>
        <p:nvSpPr>
          <p:cNvPr id="81" name="Shape 3"/>
          <p:cNvSpPr/>
          <p:nvPr/>
        </p:nvSpPr>
        <p:spPr>
          <a:xfrm>
            <a:off x="1047750" y="4925912"/>
            <a:ext cx="3790950" cy="2933701"/>
          </a:xfrm>
          <a:prstGeom prst="roundRect">
            <a:avLst>
              <a:gd name="adj" fmla="val 9091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4"/>
          <p:cNvSpPr txBox="1"/>
          <p:nvPr/>
        </p:nvSpPr>
        <p:spPr>
          <a:xfrm>
            <a:off x="1428749" y="5383112"/>
            <a:ext cx="333184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160"/>
              </a:lnSpc>
              <a:defRPr sz="7392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18%</a:t>
            </a:r>
          </a:p>
        </p:txBody>
      </p:sp>
      <p:sp>
        <p:nvSpPr>
          <p:cNvPr id="83" name="Text 5"/>
          <p:cNvSpPr txBox="1"/>
          <p:nvPr/>
        </p:nvSpPr>
        <p:spPr>
          <a:xfrm>
            <a:off x="1428749" y="6659463"/>
            <a:ext cx="3331847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trust pharma 'a lot'</a:t>
            </a:r>
          </a:p>
        </p:txBody>
      </p:sp>
      <p:sp>
        <p:nvSpPr>
          <p:cNvPr id="84" name="Shape 6"/>
          <p:cNvSpPr/>
          <p:nvPr/>
        </p:nvSpPr>
        <p:spPr>
          <a:xfrm>
            <a:off x="5181600" y="4925912"/>
            <a:ext cx="3790950" cy="2933701"/>
          </a:xfrm>
          <a:prstGeom prst="roundRect">
            <a:avLst>
              <a:gd name="adj" fmla="val 9091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7"/>
          <p:cNvSpPr txBox="1"/>
          <p:nvPr/>
        </p:nvSpPr>
        <p:spPr>
          <a:xfrm>
            <a:off x="5562599" y="5383112"/>
            <a:ext cx="333184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160"/>
              </a:lnSpc>
              <a:defRPr sz="7392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65%</a:t>
            </a:r>
          </a:p>
        </p:txBody>
      </p:sp>
      <p:sp>
        <p:nvSpPr>
          <p:cNvPr id="86" name="Text 8"/>
          <p:cNvSpPr txBox="1"/>
          <p:nvPr/>
        </p:nvSpPr>
        <p:spPr>
          <a:xfrm>
            <a:off x="5562599" y="6659463"/>
            <a:ext cx="311982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say 'pharma only wants money'</a:t>
            </a:r>
          </a:p>
        </p:txBody>
      </p:sp>
      <p:sp>
        <p:nvSpPr>
          <p:cNvPr id="87" name="Shape 9"/>
          <p:cNvSpPr/>
          <p:nvPr/>
        </p:nvSpPr>
        <p:spPr>
          <a:xfrm>
            <a:off x="9315450" y="4925912"/>
            <a:ext cx="3790950" cy="2933701"/>
          </a:xfrm>
          <a:prstGeom prst="roundRect">
            <a:avLst>
              <a:gd name="adj" fmla="val 9091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10"/>
          <p:cNvSpPr txBox="1"/>
          <p:nvPr/>
        </p:nvSpPr>
        <p:spPr>
          <a:xfrm>
            <a:off x="9696449" y="5383112"/>
            <a:ext cx="333184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160"/>
              </a:lnSpc>
              <a:defRPr sz="7392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31%</a:t>
            </a:r>
          </a:p>
        </p:txBody>
      </p:sp>
      <p:sp>
        <p:nvSpPr>
          <p:cNvPr id="89" name="Text 11"/>
          <p:cNvSpPr txBox="1"/>
          <p:nvPr/>
        </p:nvSpPr>
        <p:spPr>
          <a:xfrm>
            <a:off x="9696449" y="6659463"/>
            <a:ext cx="311982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concerned about data theft</a:t>
            </a:r>
          </a:p>
        </p:txBody>
      </p:sp>
      <p:sp>
        <p:nvSpPr>
          <p:cNvPr id="90" name="Shape 12"/>
          <p:cNvSpPr/>
          <p:nvPr/>
        </p:nvSpPr>
        <p:spPr>
          <a:xfrm>
            <a:off x="13449300" y="4925912"/>
            <a:ext cx="3790950" cy="2933701"/>
          </a:xfrm>
          <a:prstGeom prst="roundRect">
            <a:avLst>
              <a:gd name="adj" fmla="val 9091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3"/>
          <p:cNvSpPr txBox="1"/>
          <p:nvPr/>
        </p:nvSpPr>
        <p:spPr>
          <a:xfrm>
            <a:off x="13830299" y="5383112"/>
            <a:ext cx="333184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160"/>
              </a:lnSpc>
              <a:defRPr sz="7392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37%</a:t>
            </a:r>
          </a:p>
        </p:txBody>
      </p:sp>
      <p:sp>
        <p:nvSpPr>
          <p:cNvPr id="92" name="Text 14"/>
          <p:cNvSpPr txBox="1"/>
          <p:nvPr/>
        </p:nvSpPr>
        <p:spPr>
          <a:xfrm>
            <a:off x="13830299" y="6659463"/>
            <a:ext cx="311982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worried sharing discourages others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E2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1047750" y="914400"/>
            <a:ext cx="2385417" cy="544786"/>
          </a:xfrm>
          <a:prstGeom prst="roundRect">
            <a:avLst>
              <a:gd name="adj" fmla="val 50000"/>
            </a:avLst>
          </a:prstGeom>
          <a:solidFill>
            <a:srgbClr val="64331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"/>
          <p:cNvSpPr txBox="1"/>
          <p:nvPr/>
        </p:nvSpPr>
        <p:spPr>
          <a:xfrm>
            <a:off x="1295400" y="1009649"/>
            <a:ext cx="1966317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FFE1D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1047750" y="1763984"/>
            <a:ext cx="1466850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FFC6A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Clinical Trial Data Breaches</a:t>
            </a:r>
          </a:p>
        </p:txBody>
      </p:sp>
      <p:sp>
        <p:nvSpPr>
          <p:cNvPr id="99" name="Shape 3"/>
          <p:cNvSpPr/>
          <p:nvPr/>
        </p:nvSpPr>
        <p:spPr>
          <a:xfrm>
            <a:off x="1047750" y="3864769"/>
            <a:ext cx="16192500" cy="19051"/>
          </a:xfrm>
          <a:prstGeom prst="rect">
            <a:avLst/>
          </a:prstGeom>
          <a:solidFill>
            <a:srgbClr val="645C5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4"/>
          <p:cNvSpPr txBox="1"/>
          <p:nvPr/>
        </p:nvSpPr>
        <p:spPr>
          <a:xfrm>
            <a:off x="1047749" y="3045618"/>
            <a:ext cx="6206284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783"/>
              </a:lnSpc>
              <a:defRPr sz="3000">
                <a:solidFill>
                  <a:srgbClr val="F9F4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NOVO NORDISK (June 2026)</a:t>
            </a:r>
          </a:p>
        </p:txBody>
      </p:sp>
      <p:sp>
        <p:nvSpPr>
          <p:cNvPr id="101" name="Text 5"/>
          <p:cNvSpPr txBox="1"/>
          <p:nvPr/>
        </p:nvSpPr>
        <p:spPr>
          <a:xfrm>
            <a:off x="7841932" y="3104704"/>
            <a:ext cx="4137386" cy="5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098"/>
              </a:lnSpc>
              <a:defRPr sz="2700">
                <a:solidFill>
                  <a:srgbClr val="DCD3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~11,500 trial participants</a:t>
            </a:r>
          </a:p>
        </p:txBody>
      </p:sp>
      <p:sp>
        <p:nvSpPr>
          <p:cNvPr id="102" name="Shape 6"/>
          <p:cNvSpPr/>
          <p:nvPr/>
        </p:nvSpPr>
        <p:spPr>
          <a:xfrm>
            <a:off x="1047750" y="4950619"/>
            <a:ext cx="16192500" cy="19051"/>
          </a:xfrm>
          <a:prstGeom prst="rect">
            <a:avLst/>
          </a:prstGeom>
          <a:solidFill>
            <a:srgbClr val="645C5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7"/>
          <p:cNvSpPr txBox="1"/>
          <p:nvPr/>
        </p:nvSpPr>
        <p:spPr>
          <a:xfrm>
            <a:off x="1047750" y="4131469"/>
            <a:ext cx="7093840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783"/>
              </a:lnSpc>
              <a:defRPr sz="3000">
                <a:solidFill>
                  <a:srgbClr val="F9F4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DM CLINICAL RESEARCH (2024)</a:t>
            </a:r>
          </a:p>
        </p:txBody>
      </p:sp>
      <p:sp>
        <p:nvSpPr>
          <p:cNvPr id="104" name="Text 8"/>
          <p:cNvSpPr txBox="1"/>
          <p:nvPr/>
        </p:nvSpPr>
        <p:spPr>
          <a:xfrm>
            <a:off x="7839595" y="4174330"/>
            <a:ext cx="6180254" cy="5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098"/>
              </a:lnSpc>
              <a:defRPr sz="2700">
                <a:solidFill>
                  <a:srgbClr val="DCD3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1.67M records — unprotected server</a:t>
            </a:r>
          </a:p>
        </p:txBody>
      </p:sp>
      <p:sp>
        <p:nvSpPr>
          <p:cNvPr id="105" name="Shape 9"/>
          <p:cNvSpPr/>
          <p:nvPr/>
        </p:nvSpPr>
        <p:spPr>
          <a:xfrm>
            <a:off x="1047750" y="6036469"/>
            <a:ext cx="16192500" cy="19051"/>
          </a:xfrm>
          <a:prstGeom prst="rect">
            <a:avLst/>
          </a:prstGeom>
          <a:solidFill>
            <a:srgbClr val="645C5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10"/>
          <p:cNvSpPr txBox="1"/>
          <p:nvPr/>
        </p:nvSpPr>
        <p:spPr>
          <a:xfrm>
            <a:off x="1047750" y="5217319"/>
            <a:ext cx="5448300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783"/>
              </a:lnSpc>
              <a:defRPr sz="3000">
                <a:solidFill>
                  <a:srgbClr val="F9F4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CENCORA (2024)</a:t>
            </a:r>
          </a:p>
        </p:txBody>
      </p:sp>
      <p:sp>
        <p:nvSpPr>
          <p:cNvPr id="107" name="Text 11"/>
          <p:cNvSpPr txBox="1"/>
          <p:nvPr/>
        </p:nvSpPr>
        <p:spPr>
          <a:xfrm>
            <a:off x="7824661" y="5276404"/>
            <a:ext cx="7231604" cy="5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098"/>
              </a:lnSpc>
              <a:defRPr sz="2700">
                <a:solidFill>
                  <a:srgbClr val="DCD3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1.4M individuals — Novartis, Bayer, AbbVie</a:t>
            </a:r>
          </a:p>
        </p:txBody>
      </p:sp>
      <p:sp>
        <p:nvSpPr>
          <p:cNvPr id="108" name="Text 12"/>
          <p:cNvSpPr txBox="1"/>
          <p:nvPr/>
        </p:nvSpPr>
        <p:spPr>
          <a:xfrm>
            <a:off x="1047750" y="6303169"/>
            <a:ext cx="5448300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783"/>
              </a:lnSpc>
              <a:defRPr sz="3000">
                <a:solidFill>
                  <a:srgbClr val="F9F4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23andMe (2023)</a:t>
            </a:r>
          </a:p>
        </p:txBody>
      </p:sp>
      <p:sp>
        <p:nvSpPr>
          <p:cNvPr id="109" name="Text 13"/>
          <p:cNvSpPr txBox="1"/>
          <p:nvPr/>
        </p:nvSpPr>
        <p:spPr>
          <a:xfrm>
            <a:off x="7826418" y="6362254"/>
            <a:ext cx="7133951" cy="5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098"/>
              </a:lnSpc>
              <a:defRPr sz="2700">
                <a:solidFill>
                  <a:srgbClr val="DCD3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6.9M users — data targeted ethnic groups</a:t>
            </a:r>
          </a:p>
        </p:txBody>
      </p:sp>
      <p:sp>
        <p:nvSpPr>
          <p:cNvPr id="110" name="Text 14"/>
          <p:cNvSpPr txBox="1"/>
          <p:nvPr/>
        </p:nvSpPr>
        <p:spPr>
          <a:xfrm>
            <a:off x="1047750" y="9024045"/>
            <a:ext cx="13620750" cy="500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8536"/>
              </a:lnSpc>
              <a:defRPr b="1" sz="2700">
                <a:solidFill>
                  <a:srgbClr val="FFC6A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There's no way to reset health data the way you can a password.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1047750" y="914400"/>
            <a:ext cx="2385417" cy="544786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"/>
          <p:cNvSpPr txBox="1"/>
          <p:nvPr/>
        </p:nvSpPr>
        <p:spPr>
          <a:xfrm>
            <a:off x="1295400" y="1009649"/>
            <a:ext cx="1966317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16" name="Text 2"/>
          <p:cNvSpPr txBox="1"/>
          <p:nvPr/>
        </p:nvSpPr>
        <p:spPr>
          <a:xfrm>
            <a:off x="1047749" y="1763984"/>
            <a:ext cx="9138716" cy="1451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lnSpc>
                <a:spcPct val="91605"/>
              </a:lnSpc>
              <a:defRPr spc="-96" sz="4992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When Health Data Is Breached, It's Permanent</a:t>
            </a:r>
          </a:p>
        </p:txBody>
      </p:sp>
      <p:sp>
        <p:nvSpPr>
          <p:cNvPr id="117" name="Text 3"/>
          <p:cNvSpPr txBox="1"/>
          <p:nvPr/>
        </p:nvSpPr>
        <p:spPr>
          <a:xfrm>
            <a:off x="827722" y="3634606"/>
            <a:ext cx="9168767" cy="3498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859536">
              <a:lnSpc>
                <a:spcPct val="117237"/>
              </a:lnSpc>
              <a:defRPr sz="2256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Life, disability, long-term care insurers CAN legally use it</a:t>
            </a:r>
          </a:p>
          <a:p>
            <a:pPr defTabSz="859536">
              <a:lnSpc>
                <a:spcPct val="117237"/>
              </a:lnSpc>
              <a:defRPr sz="2256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defTabSz="859536">
              <a:lnSpc>
                <a:spcPct val="117237"/>
              </a:lnSpc>
              <a:defRPr sz="2256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</a:t>
            </a:r>
            <a:r>
              <a:t>GINA only covers health insurance and employers (15+)</a:t>
            </a:r>
          </a:p>
          <a:p>
            <a:pPr defTabSz="859536">
              <a:lnSpc>
                <a:spcPct val="117237"/>
              </a:lnSpc>
              <a:defRPr sz="2256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defTabSz="859536">
              <a:lnSpc>
                <a:spcPct val="117237"/>
              </a:lnSpc>
              <a:defRPr sz="2256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</a:t>
            </a:r>
            <a:r>
              <a:t>550+ documented denials due to genetic predisposition</a:t>
            </a:r>
          </a:p>
          <a:p>
            <a:pPr defTabSz="859536">
              <a:lnSpc>
                <a:spcPct val="117237"/>
              </a:lnSpc>
              <a:defRPr sz="2256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defTabSz="859536">
              <a:lnSpc>
                <a:spcPct val="117237"/>
              </a:lnSpc>
              <a:defRPr sz="2256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</a:t>
            </a:r>
            <a:r>
              <a:t>Pre-employment screening flags, termination after disclosure</a:t>
            </a:r>
          </a:p>
          <a:p>
            <a:pPr defTabSz="859536">
              <a:lnSpc>
                <a:spcPct val="117237"/>
              </a:lnSpc>
              <a:defRPr sz="2256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defTabSz="859536">
              <a:lnSpc>
                <a:spcPct val="117237"/>
              </a:lnSpc>
              <a:defRPr sz="2256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</a:t>
            </a:r>
            <a:r>
              <a:t>23andMe data marketed to target ethnic groups</a:t>
            </a:r>
          </a:p>
        </p:txBody>
      </p:sp>
      <p:sp>
        <p:nvSpPr>
          <p:cNvPr id="118" name="Shape 4"/>
          <p:cNvSpPr/>
          <p:nvPr/>
        </p:nvSpPr>
        <p:spPr>
          <a:xfrm>
            <a:off x="10682288" y="3275112"/>
            <a:ext cx="6557964" cy="3851078"/>
          </a:xfrm>
          <a:prstGeom prst="roundRect">
            <a:avLst>
              <a:gd name="adj" fmla="val 6925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5"/>
          <p:cNvSpPr txBox="1"/>
          <p:nvPr/>
        </p:nvSpPr>
        <p:spPr>
          <a:xfrm>
            <a:off x="11215688" y="3941862"/>
            <a:ext cx="5655898" cy="2555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2450"/>
              </a:lnSpc>
              <a:defRPr sz="42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 can reset a password. You cannot reset your genome.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1047750" y="914400"/>
            <a:ext cx="2385417" cy="544786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1"/>
          <p:cNvSpPr txBox="1"/>
          <p:nvPr/>
        </p:nvSpPr>
        <p:spPr>
          <a:xfrm>
            <a:off x="1295400" y="1009649"/>
            <a:ext cx="1966317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25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Enrollment Crisis</a:t>
            </a:r>
          </a:p>
        </p:txBody>
      </p:sp>
      <p:sp>
        <p:nvSpPr>
          <p:cNvPr id="126" name="Shape 3"/>
          <p:cNvSpPr/>
          <p:nvPr/>
        </p:nvSpPr>
        <p:spPr>
          <a:xfrm>
            <a:off x="1047750" y="4428902"/>
            <a:ext cx="3790950" cy="3160366"/>
          </a:xfrm>
          <a:prstGeom prst="roundRect">
            <a:avLst>
              <a:gd name="adj" fmla="val 8439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4"/>
          <p:cNvSpPr txBox="1"/>
          <p:nvPr/>
        </p:nvSpPr>
        <p:spPr>
          <a:xfrm>
            <a:off x="1428749" y="4886102"/>
            <a:ext cx="3331847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029"/>
              </a:lnSpc>
              <a:defRPr sz="6864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~40%</a:t>
            </a:r>
          </a:p>
        </p:txBody>
      </p:sp>
      <p:sp>
        <p:nvSpPr>
          <p:cNvPr id="128" name="Text 5"/>
          <p:cNvSpPr txBox="1"/>
          <p:nvPr/>
        </p:nvSpPr>
        <p:spPr>
          <a:xfrm>
            <a:off x="1428749" y="6086252"/>
            <a:ext cx="3331847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 NCI trials fail accrual</a:t>
            </a:r>
          </a:p>
        </p:txBody>
      </p:sp>
      <p:sp>
        <p:nvSpPr>
          <p:cNvPr id="129" name="Shape 6"/>
          <p:cNvSpPr/>
          <p:nvPr/>
        </p:nvSpPr>
        <p:spPr>
          <a:xfrm>
            <a:off x="5181600" y="4428902"/>
            <a:ext cx="3790950" cy="3160366"/>
          </a:xfrm>
          <a:prstGeom prst="roundRect">
            <a:avLst>
              <a:gd name="adj" fmla="val 8439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7"/>
          <p:cNvSpPr txBox="1"/>
          <p:nvPr/>
        </p:nvSpPr>
        <p:spPr>
          <a:xfrm>
            <a:off x="5562599" y="4886102"/>
            <a:ext cx="3331847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029"/>
              </a:lnSpc>
              <a:defRPr sz="6864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&lt;2%</a:t>
            </a:r>
          </a:p>
        </p:txBody>
      </p:sp>
      <p:sp>
        <p:nvSpPr>
          <p:cNvPr id="131" name="Text 8"/>
          <p:cNvSpPr txBox="1"/>
          <p:nvPr/>
        </p:nvSpPr>
        <p:spPr>
          <a:xfrm>
            <a:off x="5562599" y="6086252"/>
            <a:ext cx="311982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 cancer patients enroll</a:t>
            </a:r>
          </a:p>
        </p:txBody>
      </p:sp>
      <p:sp>
        <p:nvSpPr>
          <p:cNvPr id="132" name="Shape 9"/>
          <p:cNvSpPr/>
          <p:nvPr/>
        </p:nvSpPr>
        <p:spPr>
          <a:xfrm>
            <a:off x="9315450" y="4428902"/>
            <a:ext cx="3790950" cy="3160366"/>
          </a:xfrm>
          <a:prstGeom prst="roundRect">
            <a:avLst>
              <a:gd name="adj" fmla="val 8439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10"/>
          <p:cNvSpPr txBox="1"/>
          <p:nvPr/>
        </p:nvSpPr>
        <p:spPr>
          <a:xfrm>
            <a:off x="9696449" y="4886102"/>
            <a:ext cx="3119821" cy="170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lnSpc>
                <a:spcPct val="99886"/>
              </a:lnSpc>
              <a:defRPr sz="5643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Up to 80%</a:t>
            </a:r>
          </a:p>
        </p:txBody>
      </p:sp>
      <p:sp>
        <p:nvSpPr>
          <p:cNvPr id="134" name="Text 11"/>
          <p:cNvSpPr txBox="1"/>
          <p:nvPr/>
        </p:nvSpPr>
        <p:spPr>
          <a:xfrm>
            <a:off x="9696449" y="6760591"/>
            <a:ext cx="3331847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screen failure rate</a:t>
            </a:r>
          </a:p>
        </p:txBody>
      </p:sp>
      <p:sp>
        <p:nvSpPr>
          <p:cNvPr id="135" name="Shape 12"/>
          <p:cNvSpPr/>
          <p:nvPr/>
        </p:nvSpPr>
        <p:spPr>
          <a:xfrm>
            <a:off x="13449300" y="4428902"/>
            <a:ext cx="3790950" cy="3160366"/>
          </a:xfrm>
          <a:prstGeom prst="roundRect">
            <a:avLst>
              <a:gd name="adj" fmla="val 8439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13"/>
          <p:cNvSpPr txBox="1"/>
          <p:nvPr/>
        </p:nvSpPr>
        <p:spPr>
          <a:xfrm>
            <a:off x="13830299" y="4886102"/>
            <a:ext cx="3331847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95527">
              <a:lnSpc>
                <a:spcPct val="87129"/>
              </a:lnSpc>
              <a:defRPr sz="5742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25-32%</a:t>
            </a:r>
          </a:p>
        </p:txBody>
      </p:sp>
      <p:sp>
        <p:nvSpPr>
          <p:cNvPr id="137" name="Text 14"/>
          <p:cNvSpPr txBox="1"/>
          <p:nvPr/>
        </p:nvSpPr>
        <p:spPr>
          <a:xfrm>
            <a:off x="13830299" y="5933852"/>
            <a:ext cx="311982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rare disease trials terminated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1047750" y="914400"/>
            <a:ext cx="2458939" cy="544786"/>
          </a:xfrm>
          <a:prstGeom prst="roundRect">
            <a:avLst>
              <a:gd name="adj" fmla="val 5000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1"/>
          <p:cNvSpPr txBox="1"/>
          <p:nvPr/>
        </p:nvSpPr>
        <p:spPr>
          <a:xfrm>
            <a:off x="1295399" y="1009649"/>
            <a:ext cx="2039840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143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Barriers, One Solution: Privacy</a:t>
            </a:r>
          </a:p>
        </p:txBody>
      </p:sp>
      <p:sp>
        <p:nvSpPr>
          <p:cNvPr id="144" name="Shape 3"/>
          <p:cNvSpPr/>
          <p:nvPr/>
        </p:nvSpPr>
        <p:spPr>
          <a:xfrm>
            <a:off x="1047750" y="3917975"/>
            <a:ext cx="7886700" cy="4182220"/>
          </a:xfrm>
          <a:prstGeom prst="roundRect">
            <a:avLst>
              <a:gd name="adj" fmla="val 6377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4"/>
          <p:cNvSpPr txBox="1"/>
          <p:nvPr/>
        </p:nvSpPr>
        <p:spPr>
          <a:xfrm>
            <a:off x="1543050" y="4413275"/>
            <a:ext cx="7585710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645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BEFORE VITAPOD</a:t>
            </a:r>
          </a:p>
        </p:txBody>
      </p:sp>
      <p:sp>
        <p:nvSpPr>
          <p:cNvPr id="146" name="Text 5"/>
          <p:cNvSpPr txBox="1"/>
          <p:nvPr/>
        </p:nvSpPr>
        <p:spPr>
          <a:xfrm>
            <a:off x="1316355" y="5140002"/>
            <a:ext cx="7198994" cy="2464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13333"/>
              </a:lnSpc>
              <a:defRPr sz="25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✗ Share biomarkers to screen</a:t>
            </a:r>
          </a:p>
          <a:p>
            <a:pPr>
              <a:lnSpc>
                <a:spcPct val="113333"/>
              </a:lnSpc>
              <a:defRPr sz="25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✗ Data flows to pharma</a:t>
            </a:r>
          </a:p>
          <a:p>
            <a:pPr>
              <a:lnSpc>
                <a:spcPct val="113333"/>
              </a:lnSpc>
              <a:defRPr sz="25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✗ Data gets breached</a:t>
            </a:r>
          </a:p>
          <a:p>
            <a:pPr>
              <a:lnSpc>
                <a:spcPct val="113333"/>
              </a:lnSpc>
              <a:defRPr sz="25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✗ Breach is permanent</a:t>
            </a:r>
          </a:p>
        </p:txBody>
      </p:sp>
      <p:sp>
        <p:nvSpPr>
          <p:cNvPr id="147" name="Shape 6"/>
          <p:cNvSpPr/>
          <p:nvPr/>
        </p:nvSpPr>
        <p:spPr>
          <a:xfrm>
            <a:off x="9353550" y="3917975"/>
            <a:ext cx="7886700" cy="4182220"/>
          </a:xfrm>
          <a:prstGeom prst="roundRect">
            <a:avLst>
              <a:gd name="adj" fmla="val 6377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7"/>
          <p:cNvSpPr txBox="1"/>
          <p:nvPr/>
        </p:nvSpPr>
        <p:spPr>
          <a:xfrm>
            <a:off x="9848850" y="4413275"/>
            <a:ext cx="7585710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 VITAPOD</a:t>
            </a:r>
          </a:p>
        </p:txBody>
      </p:sp>
      <p:sp>
        <p:nvSpPr>
          <p:cNvPr id="149" name="Text 8"/>
          <p:cNvSpPr txBox="1"/>
          <p:nvPr/>
        </p:nvSpPr>
        <p:spPr>
          <a:xfrm>
            <a:off x="9622155" y="5140002"/>
            <a:ext cx="7198995" cy="2464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13333"/>
              </a:lnSpc>
              <a:defRPr b="1" sz="25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✓ Data never leaves device</a:t>
            </a:r>
          </a:p>
          <a:p>
            <a:pPr>
              <a:lnSpc>
                <a:spcPct val="113333"/>
              </a:lnSpc>
              <a:defRPr b="1" sz="25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✓ Sponsor sees: 'eligible'</a:t>
            </a:r>
          </a:p>
          <a:p>
            <a:pPr>
              <a:lnSpc>
                <a:spcPct val="113333"/>
              </a:lnSpc>
              <a:defRPr b="1" sz="25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✓ Nothing to breach</a:t>
            </a:r>
          </a:p>
          <a:p>
            <a:pPr>
              <a:lnSpc>
                <a:spcPct val="113333"/>
              </a:lnSpc>
              <a:defRPr b="1" sz="25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✓ Trust the math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1047750" y="914400"/>
            <a:ext cx="2458939" cy="544786"/>
          </a:xfrm>
          <a:prstGeom prst="roundRect">
            <a:avLst>
              <a:gd name="adj" fmla="val 5000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"/>
          <p:cNvSpPr txBox="1"/>
          <p:nvPr/>
        </p:nvSpPr>
        <p:spPr>
          <a:xfrm>
            <a:off x="1295399" y="1009649"/>
            <a:ext cx="2039840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155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Barriers, One Solution: Logistics</a:t>
            </a:r>
          </a:p>
        </p:txBody>
      </p:sp>
      <p:sp>
        <p:nvSpPr>
          <p:cNvPr id="156" name="Shape 3"/>
          <p:cNvSpPr/>
          <p:nvPr/>
        </p:nvSpPr>
        <p:spPr>
          <a:xfrm>
            <a:off x="1047750" y="3917975"/>
            <a:ext cx="7886700" cy="4182220"/>
          </a:xfrm>
          <a:prstGeom prst="roundRect">
            <a:avLst>
              <a:gd name="adj" fmla="val 6377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4"/>
          <p:cNvSpPr txBox="1"/>
          <p:nvPr/>
        </p:nvSpPr>
        <p:spPr>
          <a:xfrm>
            <a:off x="1543050" y="4413275"/>
            <a:ext cx="7585710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645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BEFORE VITAPOD</a:t>
            </a:r>
          </a:p>
        </p:txBody>
      </p:sp>
      <p:sp>
        <p:nvSpPr>
          <p:cNvPr id="158" name="Text 5"/>
          <p:cNvSpPr txBox="1"/>
          <p:nvPr/>
        </p:nvSpPr>
        <p:spPr>
          <a:xfrm>
            <a:off x="1316355" y="5140002"/>
            <a:ext cx="7198994" cy="2464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13333"/>
              </a:lnSpc>
              <a:defRPr sz="25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✗ Travel 67+ miles to screen</a:t>
            </a:r>
          </a:p>
          <a:p>
            <a:pPr>
              <a:lnSpc>
                <a:spcPct val="113333"/>
              </a:lnSpc>
              <a:defRPr sz="25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✗ 2-4 hour screening visit</a:t>
            </a:r>
          </a:p>
          <a:p>
            <a:pPr>
              <a:lnSpc>
                <a:spcPct val="113333"/>
              </a:lnSpc>
              <a:defRPr sz="25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✗ Wait days/weeks for results</a:t>
            </a:r>
          </a:p>
          <a:p>
            <a:pPr>
              <a:lnSpc>
                <a:spcPct val="113333"/>
              </a:lnSpc>
              <a:defRPr sz="25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✗ Up to 80% fail anyway</a:t>
            </a:r>
          </a:p>
        </p:txBody>
      </p:sp>
      <p:sp>
        <p:nvSpPr>
          <p:cNvPr id="159" name="Shape 6"/>
          <p:cNvSpPr/>
          <p:nvPr/>
        </p:nvSpPr>
        <p:spPr>
          <a:xfrm>
            <a:off x="9353550" y="3917975"/>
            <a:ext cx="7886700" cy="4182220"/>
          </a:xfrm>
          <a:prstGeom prst="roundRect">
            <a:avLst>
              <a:gd name="adj" fmla="val 6377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7"/>
          <p:cNvSpPr txBox="1"/>
          <p:nvPr/>
        </p:nvSpPr>
        <p:spPr>
          <a:xfrm>
            <a:off x="9848850" y="4413275"/>
            <a:ext cx="7585710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 VITAPOD</a:t>
            </a:r>
          </a:p>
        </p:txBody>
      </p:sp>
      <p:sp>
        <p:nvSpPr>
          <p:cNvPr id="161" name="Text 8"/>
          <p:cNvSpPr txBox="1"/>
          <p:nvPr/>
        </p:nvSpPr>
        <p:spPr>
          <a:xfrm>
            <a:off x="9622155" y="5140002"/>
            <a:ext cx="7198995" cy="2464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13333"/>
              </a:lnSpc>
              <a:defRPr b="1" sz="25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✓ Know eligibility BEFORE travel</a:t>
            </a:r>
          </a:p>
          <a:p>
            <a:pPr>
              <a:lnSpc>
                <a:spcPct val="113333"/>
              </a:lnSpc>
              <a:defRPr b="1" sz="25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✓ 2-second local proof</a:t>
            </a:r>
          </a:p>
          <a:p>
            <a:pPr>
              <a:lnSpc>
                <a:spcPct val="113333"/>
              </a:lnSpc>
              <a:defRPr b="1" sz="25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✓ Instant verification</a:t>
            </a:r>
          </a:p>
          <a:p>
            <a:pPr>
              <a:lnSpc>
                <a:spcPct val="113333"/>
              </a:lnSpc>
              <a:defRPr b="1" sz="25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✓ Only qualified travel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1047750" y="914400"/>
            <a:ext cx="1585095" cy="544786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"/>
          <p:cNvSpPr txBox="1"/>
          <p:nvPr/>
        </p:nvSpPr>
        <p:spPr>
          <a:xfrm>
            <a:off x="1295399" y="1009649"/>
            <a:ext cx="1165996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MARKET</a:t>
            </a:r>
          </a:p>
        </p:txBody>
      </p:sp>
      <p:sp>
        <p:nvSpPr>
          <p:cNvPr id="167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Market Opportunity</a:t>
            </a:r>
          </a:p>
        </p:txBody>
      </p:sp>
      <p:sp>
        <p:nvSpPr>
          <p:cNvPr id="168" name="Shape 3"/>
          <p:cNvSpPr/>
          <p:nvPr/>
        </p:nvSpPr>
        <p:spPr>
          <a:xfrm>
            <a:off x="1047750" y="4580333"/>
            <a:ext cx="3710807" cy="2857501"/>
          </a:xfrm>
          <a:prstGeom prst="roundRect">
            <a:avLst>
              <a:gd name="adj" fmla="val 9333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4"/>
          <p:cNvSpPr txBox="1"/>
          <p:nvPr/>
        </p:nvSpPr>
        <p:spPr>
          <a:xfrm>
            <a:off x="1428749" y="5037533"/>
            <a:ext cx="3243689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029"/>
              </a:lnSpc>
              <a:defRPr sz="6864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$1.9B</a:t>
            </a:r>
          </a:p>
        </p:txBody>
      </p:sp>
      <p:sp>
        <p:nvSpPr>
          <p:cNvPr id="170" name="Text 5"/>
          <p:cNvSpPr txBox="1"/>
          <p:nvPr/>
        </p:nvSpPr>
        <p:spPr>
          <a:xfrm>
            <a:off x="1428749" y="6237683"/>
            <a:ext cx="3037272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patient matching by 2030</a:t>
            </a:r>
          </a:p>
        </p:txBody>
      </p:sp>
      <p:sp>
        <p:nvSpPr>
          <p:cNvPr id="171" name="Shape 6"/>
          <p:cNvSpPr/>
          <p:nvPr/>
        </p:nvSpPr>
        <p:spPr>
          <a:xfrm>
            <a:off x="5101456" y="4580333"/>
            <a:ext cx="3710807" cy="2857501"/>
          </a:xfrm>
          <a:prstGeom prst="roundRect">
            <a:avLst>
              <a:gd name="adj" fmla="val 9333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7"/>
          <p:cNvSpPr txBox="1"/>
          <p:nvPr/>
        </p:nvSpPr>
        <p:spPr>
          <a:xfrm>
            <a:off x="5482456" y="5037533"/>
            <a:ext cx="324368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029"/>
              </a:lnSpc>
              <a:defRPr sz="6864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270+</a:t>
            </a:r>
          </a:p>
        </p:txBody>
      </p:sp>
      <p:sp>
        <p:nvSpPr>
          <p:cNvPr id="173" name="Text 8"/>
          <p:cNvSpPr txBox="1"/>
          <p:nvPr/>
        </p:nvSpPr>
        <p:spPr>
          <a:xfrm>
            <a:off x="5482456" y="6237683"/>
            <a:ext cx="303727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trials using tokenization</a:t>
            </a:r>
          </a:p>
        </p:txBody>
      </p:sp>
      <p:sp>
        <p:nvSpPr>
          <p:cNvPr id="174" name="Shape 9"/>
          <p:cNvSpPr/>
          <p:nvPr/>
        </p:nvSpPr>
        <p:spPr>
          <a:xfrm>
            <a:off x="9155162" y="4580333"/>
            <a:ext cx="4031308" cy="2857501"/>
          </a:xfrm>
          <a:prstGeom prst="roundRect">
            <a:avLst>
              <a:gd name="adj" fmla="val 9333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10"/>
          <p:cNvSpPr txBox="1"/>
          <p:nvPr/>
        </p:nvSpPr>
        <p:spPr>
          <a:xfrm>
            <a:off x="9536162" y="5037533"/>
            <a:ext cx="359623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029"/>
              </a:lnSpc>
              <a:defRPr sz="6864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2,000+</a:t>
            </a:r>
          </a:p>
        </p:txBody>
      </p:sp>
      <p:sp>
        <p:nvSpPr>
          <p:cNvPr id="176" name="Text 11"/>
          <p:cNvSpPr txBox="1"/>
          <p:nvPr/>
        </p:nvSpPr>
        <p:spPr>
          <a:xfrm>
            <a:off x="9536162" y="6237683"/>
            <a:ext cx="3596238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hospitals using Datavant</a:t>
            </a:r>
          </a:p>
        </p:txBody>
      </p:sp>
      <p:sp>
        <p:nvSpPr>
          <p:cNvPr id="177" name="Shape 12"/>
          <p:cNvSpPr/>
          <p:nvPr/>
        </p:nvSpPr>
        <p:spPr>
          <a:xfrm>
            <a:off x="13529369" y="4580333"/>
            <a:ext cx="3710807" cy="2857501"/>
          </a:xfrm>
          <a:prstGeom prst="roundRect">
            <a:avLst>
              <a:gd name="adj" fmla="val 9333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3"/>
          <p:cNvSpPr txBox="1"/>
          <p:nvPr/>
        </p:nvSpPr>
        <p:spPr>
          <a:xfrm>
            <a:off x="13910369" y="5037533"/>
            <a:ext cx="3243688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7029"/>
              </a:lnSpc>
              <a:defRPr sz="6864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89%</a:t>
            </a:r>
          </a:p>
        </p:txBody>
      </p:sp>
      <p:sp>
        <p:nvSpPr>
          <p:cNvPr id="179" name="Text 14"/>
          <p:cNvSpPr txBox="1"/>
          <p:nvPr/>
        </p:nvSpPr>
        <p:spPr>
          <a:xfrm>
            <a:off x="13910369" y="6237683"/>
            <a:ext cx="3037271" cy="781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3043"/>
              </a:lnSpc>
              <a:defRPr b="1" sz="22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completion (decentralized trials)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1047750" y="914400"/>
            <a:ext cx="1585095" cy="544786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1"/>
          <p:cNvSpPr txBox="1"/>
          <p:nvPr/>
        </p:nvSpPr>
        <p:spPr>
          <a:xfrm>
            <a:off x="1295399" y="1009649"/>
            <a:ext cx="1165996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MARKET</a:t>
            </a:r>
          </a:p>
        </p:txBody>
      </p:sp>
      <p:sp>
        <p:nvSpPr>
          <p:cNvPr id="185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Who Buys This</a:t>
            </a:r>
          </a:p>
        </p:txBody>
      </p:sp>
      <p:sp>
        <p:nvSpPr>
          <p:cNvPr id="186" name="Shape 3"/>
          <p:cNvSpPr/>
          <p:nvPr/>
        </p:nvSpPr>
        <p:spPr>
          <a:xfrm>
            <a:off x="1047750" y="2758752"/>
            <a:ext cx="16192500" cy="1132509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4"/>
          <p:cNvSpPr txBox="1"/>
          <p:nvPr/>
        </p:nvSpPr>
        <p:spPr>
          <a:xfrm>
            <a:off x="1581150" y="3044502"/>
            <a:ext cx="5867400" cy="599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402"/>
              </a:lnSpc>
              <a:defRPr sz="28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CROs (IQVIA, Medpace)</a:t>
            </a:r>
          </a:p>
        </p:txBody>
      </p:sp>
      <p:sp>
        <p:nvSpPr>
          <p:cNvPr id="188" name="Text 5"/>
          <p:cNvSpPr txBox="1"/>
          <p:nvPr/>
        </p:nvSpPr>
        <p:spPr>
          <a:xfrm>
            <a:off x="9064870" y="3069767"/>
            <a:ext cx="4039650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reduce screen failure costs</a:t>
            </a:r>
          </a:p>
        </p:txBody>
      </p:sp>
      <p:sp>
        <p:nvSpPr>
          <p:cNvPr id="189" name="Shape 6"/>
          <p:cNvSpPr/>
          <p:nvPr/>
        </p:nvSpPr>
        <p:spPr>
          <a:xfrm>
            <a:off x="1047750" y="4100810"/>
            <a:ext cx="16192500" cy="1132509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7"/>
          <p:cNvSpPr txBox="1"/>
          <p:nvPr/>
        </p:nvSpPr>
        <p:spPr>
          <a:xfrm>
            <a:off x="1581149" y="4386560"/>
            <a:ext cx="7820064" cy="599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402"/>
              </a:lnSpc>
              <a:defRPr sz="28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Patient matching (Trialbee, Deep 6 AI)</a:t>
            </a:r>
          </a:p>
        </p:txBody>
      </p:sp>
      <p:sp>
        <p:nvSpPr>
          <p:cNvPr id="191" name="Text 8"/>
          <p:cNvSpPr txBox="1"/>
          <p:nvPr/>
        </p:nvSpPr>
        <p:spPr>
          <a:xfrm>
            <a:off x="9071296" y="4430836"/>
            <a:ext cx="3571846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privacy as differentiator</a:t>
            </a:r>
          </a:p>
        </p:txBody>
      </p:sp>
      <p:sp>
        <p:nvSpPr>
          <p:cNvPr id="192" name="Shape 9"/>
          <p:cNvSpPr/>
          <p:nvPr/>
        </p:nvSpPr>
        <p:spPr>
          <a:xfrm>
            <a:off x="1047750" y="5442868"/>
            <a:ext cx="16192500" cy="1132509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10"/>
          <p:cNvSpPr txBox="1"/>
          <p:nvPr/>
        </p:nvSpPr>
        <p:spPr>
          <a:xfrm>
            <a:off x="1581150" y="5728618"/>
            <a:ext cx="8443719" cy="599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402"/>
              </a:lnSpc>
              <a:defRPr sz="28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Decentralized trials (Medable, Science 37)</a:t>
            </a:r>
          </a:p>
        </p:txBody>
      </p:sp>
      <p:sp>
        <p:nvSpPr>
          <p:cNvPr id="194" name="Text 11"/>
          <p:cNvSpPr txBox="1"/>
          <p:nvPr/>
        </p:nvSpPr>
        <p:spPr>
          <a:xfrm>
            <a:off x="9155681" y="5791981"/>
            <a:ext cx="2042459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trust-building</a:t>
            </a:r>
          </a:p>
        </p:txBody>
      </p:sp>
      <p:sp>
        <p:nvSpPr>
          <p:cNvPr id="195" name="Shape 12"/>
          <p:cNvSpPr/>
          <p:nvPr/>
        </p:nvSpPr>
        <p:spPr>
          <a:xfrm>
            <a:off x="1047750" y="6784924"/>
            <a:ext cx="16192500" cy="1132509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3"/>
          <p:cNvSpPr txBox="1"/>
          <p:nvPr/>
        </p:nvSpPr>
        <p:spPr>
          <a:xfrm>
            <a:off x="1581150" y="7070674"/>
            <a:ext cx="7470293" cy="599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402"/>
              </a:lnSpc>
              <a:defRPr sz="28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Rare disease (RARE-X, Global Genes)</a:t>
            </a:r>
          </a:p>
        </p:txBody>
      </p:sp>
      <p:sp>
        <p:nvSpPr>
          <p:cNvPr id="197" name="Text 14"/>
          <p:cNvSpPr txBox="1"/>
          <p:nvPr/>
        </p:nvSpPr>
        <p:spPr>
          <a:xfrm>
            <a:off x="9127203" y="7114989"/>
            <a:ext cx="3460032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reach privacy-sensitive</a:t>
            </a:r>
          </a:p>
        </p:txBody>
      </p:sp>
      <p:sp>
        <p:nvSpPr>
          <p:cNvPr id="198" name="Shape 15"/>
          <p:cNvSpPr/>
          <p:nvPr/>
        </p:nvSpPr>
        <p:spPr>
          <a:xfrm>
            <a:off x="1047750" y="8126983"/>
            <a:ext cx="16192500" cy="1132509"/>
          </a:xfrm>
          <a:prstGeom prst="roundRect">
            <a:avLst>
              <a:gd name="adj" fmla="val 50000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16"/>
          <p:cNvSpPr txBox="1"/>
          <p:nvPr/>
        </p:nvSpPr>
        <p:spPr>
          <a:xfrm>
            <a:off x="1581150" y="8412733"/>
            <a:ext cx="5867400" cy="599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402"/>
              </a:lnSpc>
              <a:defRPr sz="28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DeSci (VitaDAO, Molecule)</a:t>
            </a:r>
          </a:p>
        </p:txBody>
      </p:sp>
      <p:sp>
        <p:nvSpPr>
          <p:cNvPr id="200" name="Text 17"/>
          <p:cNvSpPr txBox="1"/>
          <p:nvPr/>
        </p:nvSpPr>
        <p:spPr>
          <a:xfrm>
            <a:off x="9158287" y="8476097"/>
            <a:ext cx="3270864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proof-of-contribution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1047750" y="914400"/>
            <a:ext cx="1422575" cy="544786"/>
          </a:xfrm>
          <a:prstGeom prst="roundRect">
            <a:avLst>
              <a:gd name="adj" fmla="val 5000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1"/>
          <p:cNvSpPr txBox="1"/>
          <p:nvPr/>
        </p:nvSpPr>
        <p:spPr>
          <a:xfrm>
            <a:off x="1295399" y="1009649"/>
            <a:ext cx="1003476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206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Proof-of-Contribution Benefits</a:t>
            </a:r>
          </a:p>
        </p:txBody>
      </p:sp>
      <p:sp>
        <p:nvSpPr>
          <p:cNvPr id="207" name="Shape 3"/>
          <p:cNvSpPr/>
          <p:nvPr/>
        </p:nvSpPr>
        <p:spPr>
          <a:xfrm>
            <a:off x="1047750" y="3064668"/>
            <a:ext cx="5194251" cy="1667918"/>
          </a:xfrm>
          <a:prstGeom prst="roundRect">
            <a:avLst>
              <a:gd name="adj" fmla="val 1599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4"/>
          <p:cNvSpPr txBox="1"/>
          <p:nvPr/>
        </p:nvSpPr>
        <p:spPr>
          <a:xfrm>
            <a:off x="1428749" y="3483769"/>
            <a:ext cx="4588080" cy="867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4632"/>
              </a:lnSpc>
              <a:defRPr b="1" sz="24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Drug access discounts for verified contributors</a:t>
            </a:r>
          </a:p>
        </p:txBody>
      </p:sp>
      <p:sp>
        <p:nvSpPr>
          <p:cNvPr id="209" name="Shape 5"/>
          <p:cNvSpPr/>
          <p:nvPr/>
        </p:nvSpPr>
        <p:spPr>
          <a:xfrm>
            <a:off x="6546799" y="3064668"/>
            <a:ext cx="5194326" cy="1667918"/>
          </a:xfrm>
          <a:prstGeom prst="roundRect">
            <a:avLst>
              <a:gd name="adj" fmla="val 1599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6"/>
          <p:cNvSpPr txBox="1"/>
          <p:nvPr/>
        </p:nvSpPr>
        <p:spPr>
          <a:xfrm>
            <a:off x="6927799" y="3483769"/>
            <a:ext cx="4588156" cy="867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4632"/>
              </a:lnSpc>
              <a:defRPr b="1" sz="24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Priority trial access based on past participation</a:t>
            </a:r>
          </a:p>
        </p:txBody>
      </p:sp>
      <p:sp>
        <p:nvSpPr>
          <p:cNvPr id="211" name="Shape 7"/>
          <p:cNvSpPr/>
          <p:nvPr/>
        </p:nvSpPr>
        <p:spPr>
          <a:xfrm>
            <a:off x="12045925" y="3064668"/>
            <a:ext cx="5194251" cy="1667918"/>
          </a:xfrm>
          <a:prstGeom prst="roundRect">
            <a:avLst>
              <a:gd name="adj" fmla="val 1599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8"/>
          <p:cNvSpPr txBox="1"/>
          <p:nvPr/>
        </p:nvSpPr>
        <p:spPr>
          <a:xfrm>
            <a:off x="12426925" y="3483769"/>
            <a:ext cx="4588079" cy="867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4632"/>
              </a:lnSpc>
              <a:defRPr b="1" sz="24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Travel/time compensation triggered by proofs</a:t>
            </a:r>
          </a:p>
        </p:txBody>
      </p:sp>
      <p:sp>
        <p:nvSpPr>
          <p:cNvPr id="213" name="Shape 9"/>
          <p:cNvSpPr/>
          <p:nvPr/>
        </p:nvSpPr>
        <p:spPr>
          <a:xfrm>
            <a:off x="1047750" y="5037385"/>
            <a:ext cx="5194251" cy="1667918"/>
          </a:xfrm>
          <a:prstGeom prst="roundRect">
            <a:avLst>
              <a:gd name="adj" fmla="val 1599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10"/>
          <p:cNvSpPr txBox="1"/>
          <p:nvPr/>
        </p:nvSpPr>
        <p:spPr>
          <a:xfrm>
            <a:off x="1428749" y="5456485"/>
            <a:ext cx="4588080" cy="867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4632"/>
              </a:lnSpc>
              <a:defRPr b="1" sz="24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Personal health insights (aggregated)</a:t>
            </a:r>
          </a:p>
        </p:txBody>
      </p:sp>
      <p:sp>
        <p:nvSpPr>
          <p:cNvPr id="215" name="Shape 11"/>
          <p:cNvSpPr/>
          <p:nvPr/>
        </p:nvSpPr>
        <p:spPr>
          <a:xfrm>
            <a:off x="6546799" y="5037385"/>
            <a:ext cx="5194326" cy="1667918"/>
          </a:xfrm>
          <a:prstGeom prst="roundRect">
            <a:avLst>
              <a:gd name="adj" fmla="val 1599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12"/>
          <p:cNvSpPr txBox="1"/>
          <p:nvPr/>
        </p:nvSpPr>
        <p:spPr>
          <a:xfrm>
            <a:off x="6927799" y="5456485"/>
            <a:ext cx="4588156" cy="867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4632"/>
              </a:lnSpc>
              <a:defRPr b="1" sz="2400">
                <a:solidFill>
                  <a:srgbClr val="272E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Patient advisory board roles</a:t>
            </a:r>
          </a:p>
        </p:txBody>
      </p:sp>
      <p:sp>
        <p:nvSpPr>
          <p:cNvPr id="217" name="Text 13"/>
          <p:cNvSpPr txBox="1"/>
          <p:nvPr/>
        </p:nvSpPr>
        <p:spPr>
          <a:xfrm>
            <a:off x="1047750" y="9049717"/>
            <a:ext cx="17811750" cy="475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7692"/>
              </a:lnSpc>
              <a:defRPr b="1" sz="25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Proof-of-contribution provides the substrate. Sponsors choose rewards.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1047750" y="914400"/>
            <a:ext cx="2517950" cy="544786"/>
          </a:xfrm>
          <a:prstGeom prst="roundRect">
            <a:avLst>
              <a:gd name="adj" fmla="val 50000"/>
            </a:avLst>
          </a:prstGeom>
          <a:solidFill>
            <a:srgbClr val="E1E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"/>
          <p:cNvSpPr txBox="1"/>
          <p:nvPr/>
        </p:nvSpPr>
        <p:spPr>
          <a:xfrm>
            <a:off x="1295399" y="1009649"/>
            <a:ext cx="2098851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3D472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223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VitaPod Works</a:t>
            </a:r>
          </a:p>
        </p:txBody>
      </p:sp>
      <p:sp>
        <p:nvSpPr>
          <p:cNvPr id="224" name="Shape 3"/>
          <p:cNvSpPr/>
          <p:nvPr/>
        </p:nvSpPr>
        <p:spPr>
          <a:xfrm>
            <a:off x="1047750" y="3026568"/>
            <a:ext cx="5194251" cy="2398665"/>
          </a:xfrm>
          <a:prstGeom prst="roundRect">
            <a:avLst>
              <a:gd name="adj" fmla="val 11119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Shape 4"/>
          <p:cNvSpPr/>
          <p:nvPr/>
        </p:nvSpPr>
        <p:spPr>
          <a:xfrm>
            <a:off x="1409700" y="3407569"/>
            <a:ext cx="609600" cy="609601"/>
          </a:xfrm>
          <a:prstGeom prst="ellipse">
            <a:avLst/>
          </a:prstGeom>
          <a:solidFill>
            <a:srgbClr val="D67F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5"/>
          <p:cNvSpPr txBox="1"/>
          <p:nvPr/>
        </p:nvSpPr>
        <p:spPr>
          <a:xfrm>
            <a:off x="1371600" y="3407569"/>
            <a:ext cx="6858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135128"/>
              </a:lnSpc>
              <a:defRPr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7" name="Text 6"/>
          <p:cNvSpPr txBox="1"/>
          <p:nvPr/>
        </p:nvSpPr>
        <p:spPr>
          <a:xfrm>
            <a:off x="1409700" y="4264819"/>
            <a:ext cx="4604461" cy="817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267"/>
              </a:lnSpc>
              <a:defRPr sz="23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Patient loads lab results in browser (data stays local)</a:t>
            </a:r>
          </a:p>
        </p:txBody>
      </p:sp>
      <p:sp>
        <p:nvSpPr>
          <p:cNvPr id="228" name="Shape 7"/>
          <p:cNvSpPr/>
          <p:nvPr/>
        </p:nvSpPr>
        <p:spPr>
          <a:xfrm>
            <a:off x="6546799" y="3026568"/>
            <a:ext cx="5194326" cy="2398665"/>
          </a:xfrm>
          <a:prstGeom prst="roundRect">
            <a:avLst>
              <a:gd name="adj" fmla="val 11119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hape 8"/>
          <p:cNvSpPr/>
          <p:nvPr/>
        </p:nvSpPr>
        <p:spPr>
          <a:xfrm>
            <a:off x="6908749" y="3407569"/>
            <a:ext cx="609601" cy="609601"/>
          </a:xfrm>
          <a:prstGeom prst="ellipse">
            <a:avLst/>
          </a:prstGeom>
          <a:solidFill>
            <a:srgbClr val="D67F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9"/>
          <p:cNvSpPr txBox="1"/>
          <p:nvPr/>
        </p:nvSpPr>
        <p:spPr>
          <a:xfrm>
            <a:off x="6870649" y="3407569"/>
            <a:ext cx="6858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135128"/>
              </a:lnSpc>
              <a:defRPr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1" name="Text 10"/>
          <p:cNvSpPr txBox="1"/>
          <p:nvPr/>
        </p:nvSpPr>
        <p:spPr>
          <a:xfrm>
            <a:off x="6908749" y="4264819"/>
            <a:ext cx="4604539" cy="817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267"/>
              </a:lnSpc>
              <a:defRPr sz="23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policy evaluation shows eligibility preview</a:t>
            </a:r>
          </a:p>
        </p:txBody>
      </p:sp>
      <p:sp>
        <p:nvSpPr>
          <p:cNvPr id="232" name="Shape 11"/>
          <p:cNvSpPr/>
          <p:nvPr/>
        </p:nvSpPr>
        <p:spPr>
          <a:xfrm>
            <a:off x="12045925" y="3026568"/>
            <a:ext cx="5194251" cy="2398665"/>
          </a:xfrm>
          <a:prstGeom prst="roundRect">
            <a:avLst>
              <a:gd name="adj" fmla="val 11119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Shape 12"/>
          <p:cNvSpPr/>
          <p:nvPr/>
        </p:nvSpPr>
        <p:spPr>
          <a:xfrm>
            <a:off x="12407875" y="3407569"/>
            <a:ext cx="609601" cy="609601"/>
          </a:xfrm>
          <a:prstGeom prst="ellipse">
            <a:avLst/>
          </a:prstGeom>
          <a:solidFill>
            <a:srgbClr val="D67F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3"/>
          <p:cNvSpPr txBox="1"/>
          <p:nvPr/>
        </p:nvSpPr>
        <p:spPr>
          <a:xfrm>
            <a:off x="12369775" y="3407569"/>
            <a:ext cx="6858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135128"/>
              </a:lnSpc>
              <a:defRPr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5" name="Text 14"/>
          <p:cNvSpPr txBox="1"/>
          <p:nvPr/>
        </p:nvSpPr>
        <p:spPr>
          <a:xfrm>
            <a:off x="12407875" y="4264819"/>
            <a:ext cx="4604462" cy="817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267"/>
              </a:lnSpc>
              <a:defRPr sz="23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EZKL compiles policy to zk-SNARK circuit</a:t>
            </a:r>
          </a:p>
        </p:txBody>
      </p:sp>
      <p:sp>
        <p:nvSpPr>
          <p:cNvPr id="236" name="Shape 15"/>
          <p:cNvSpPr/>
          <p:nvPr/>
        </p:nvSpPr>
        <p:spPr>
          <a:xfrm>
            <a:off x="1047750" y="5730032"/>
            <a:ext cx="5194251" cy="2398664"/>
          </a:xfrm>
          <a:prstGeom prst="roundRect">
            <a:avLst>
              <a:gd name="adj" fmla="val 11119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Shape 16"/>
          <p:cNvSpPr/>
          <p:nvPr/>
        </p:nvSpPr>
        <p:spPr>
          <a:xfrm>
            <a:off x="1409700" y="6111032"/>
            <a:ext cx="609600" cy="609601"/>
          </a:xfrm>
          <a:prstGeom prst="ellipse">
            <a:avLst/>
          </a:prstGeom>
          <a:solidFill>
            <a:srgbClr val="D67F4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17"/>
          <p:cNvSpPr txBox="1"/>
          <p:nvPr/>
        </p:nvSpPr>
        <p:spPr>
          <a:xfrm>
            <a:off x="1371600" y="6111032"/>
            <a:ext cx="6858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135128"/>
              </a:lnSpc>
              <a:defRPr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9" name="Text 18"/>
          <p:cNvSpPr txBox="1"/>
          <p:nvPr/>
        </p:nvSpPr>
        <p:spPr>
          <a:xfrm>
            <a:off x="1409700" y="6968281"/>
            <a:ext cx="4604461" cy="817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267"/>
              </a:lnSpc>
              <a:defRPr sz="23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Proof generated locally in ~2 seconds</a:t>
            </a:r>
          </a:p>
        </p:txBody>
      </p:sp>
      <p:sp>
        <p:nvSpPr>
          <p:cNvPr id="240" name="Shape 19"/>
          <p:cNvSpPr/>
          <p:nvPr/>
        </p:nvSpPr>
        <p:spPr>
          <a:xfrm>
            <a:off x="6546799" y="5730032"/>
            <a:ext cx="5194326" cy="2398664"/>
          </a:xfrm>
          <a:prstGeom prst="roundRect">
            <a:avLst>
              <a:gd name="adj" fmla="val 11119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Shape 20"/>
          <p:cNvSpPr/>
          <p:nvPr/>
        </p:nvSpPr>
        <p:spPr>
          <a:xfrm>
            <a:off x="6908749" y="6111032"/>
            <a:ext cx="609601" cy="609601"/>
          </a:xfrm>
          <a:prstGeom prst="ellipse">
            <a:avLst/>
          </a:prstGeom>
          <a:solidFill>
            <a:srgbClr val="7281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21"/>
          <p:cNvSpPr txBox="1"/>
          <p:nvPr/>
        </p:nvSpPr>
        <p:spPr>
          <a:xfrm>
            <a:off x="6870649" y="6111032"/>
            <a:ext cx="6858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135128"/>
              </a:lnSpc>
              <a:defRPr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3" name="Text 22"/>
          <p:cNvSpPr txBox="1"/>
          <p:nvPr/>
        </p:nvSpPr>
        <p:spPr>
          <a:xfrm>
            <a:off x="6908749" y="6968281"/>
            <a:ext cx="4604539" cy="817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267"/>
              </a:lnSpc>
              <a:defRPr sz="23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Blockchain records only wallet + proof hash</a:t>
            </a:r>
          </a:p>
        </p:txBody>
      </p:sp>
      <p:sp>
        <p:nvSpPr>
          <p:cNvPr id="244" name="Shape 23"/>
          <p:cNvSpPr/>
          <p:nvPr/>
        </p:nvSpPr>
        <p:spPr>
          <a:xfrm>
            <a:off x="12045925" y="5730032"/>
            <a:ext cx="5194251" cy="2398664"/>
          </a:xfrm>
          <a:prstGeom prst="roundRect">
            <a:avLst>
              <a:gd name="adj" fmla="val 11119"/>
            </a:avLst>
          </a:prstGeom>
          <a:solidFill>
            <a:srgbClr val="EBDD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Shape 24"/>
          <p:cNvSpPr/>
          <p:nvPr/>
        </p:nvSpPr>
        <p:spPr>
          <a:xfrm>
            <a:off x="12407875" y="6111032"/>
            <a:ext cx="609601" cy="609601"/>
          </a:xfrm>
          <a:prstGeom prst="ellipse">
            <a:avLst/>
          </a:prstGeom>
          <a:solidFill>
            <a:srgbClr val="72815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25"/>
          <p:cNvSpPr txBox="1"/>
          <p:nvPr/>
        </p:nvSpPr>
        <p:spPr>
          <a:xfrm>
            <a:off x="12369775" y="6111032"/>
            <a:ext cx="6858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135128"/>
              </a:lnSpc>
              <a:defRPr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47" name="Text 26"/>
          <p:cNvSpPr txBox="1"/>
          <p:nvPr/>
        </p:nvSpPr>
        <p:spPr>
          <a:xfrm>
            <a:off x="12407875" y="6968281"/>
            <a:ext cx="4604462" cy="817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5267"/>
              </a:lnSpc>
              <a:defRPr sz="2300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Sponsor sees ONE BIT: eligible or not</a:t>
            </a:r>
          </a:p>
        </p:txBody>
      </p:sp>
      <p:sp>
        <p:nvSpPr>
          <p:cNvPr id="248" name="Text 27"/>
          <p:cNvSpPr txBox="1"/>
          <p:nvPr/>
        </p:nvSpPr>
        <p:spPr>
          <a:xfrm>
            <a:off x="1047750" y="9049717"/>
            <a:ext cx="17811750" cy="475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7692"/>
              </a:lnSpc>
              <a:defRPr b="1" sz="25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age. No HbA1c. No eGFR. No data to steal.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E2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1047750" y="914400"/>
            <a:ext cx="2517950" cy="544786"/>
          </a:xfrm>
          <a:prstGeom prst="roundRect">
            <a:avLst>
              <a:gd name="adj" fmla="val 50000"/>
            </a:avLst>
          </a:prstGeom>
          <a:solidFill>
            <a:srgbClr val="3D47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1"/>
          <p:cNvSpPr txBox="1"/>
          <p:nvPr/>
        </p:nvSpPr>
        <p:spPr>
          <a:xfrm>
            <a:off x="1295399" y="1009649"/>
            <a:ext cx="2098851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E1EE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254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CCDB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the Blockchain Sees</a:t>
            </a:r>
          </a:p>
        </p:txBody>
      </p:sp>
      <p:sp>
        <p:nvSpPr>
          <p:cNvPr id="255" name="Shape 3"/>
          <p:cNvSpPr/>
          <p:nvPr/>
        </p:nvSpPr>
        <p:spPr>
          <a:xfrm>
            <a:off x="1047750" y="3699867"/>
            <a:ext cx="8940479" cy="4618510"/>
          </a:xfrm>
          <a:prstGeom prst="roundRect">
            <a:avLst>
              <a:gd name="adj" fmla="val 5775"/>
            </a:avLst>
          </a:prstGeom>
          <a:solidFill>
            <a:srgbClr val="4742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4"/>
          <p:cNvSpPr txBox="1"/>
          <p:nvPr/>
        </p:nvSpPr>
        <p:spPr>
          <a:xfrm>
            <a:off x="1523999" y="4157067"/>
            <a:ext cx="8786777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CCDB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PROOFACCEPTED EVENT</a:t>
            </a:r>
          </a:p>
        </p:txBody>
      </p:sp>
      <p:sp>
        <p:nvSpPr>
          <p:cNvPr id="257" name="Text 5"/>
          <p:cNvSpPr txBox="1"/>
          <p:nvPr/>
        </p:nvSpPr>
        <p:spPr>
          <a:xfrm>
            <a:off x="1523999" y="4845694"/>
            <a:ext cx="8227619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0000"/>
              </a:lnSpc>
              <a:defRPr sz="2200">
                <a:solidFill>
                  <a:srgbClr val="F9F4E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submitter: 0x742d...3a1f</a:t>
            </a:r>
          </a:p>
        </p:txBody>
      </p:sp>
      <p:sp>
        <p:nvSpPr>
          <p:cNvPr id="258" name="Text 6"/>
          <p:cNvSpPr txBox="1"/>
          <p:nvPr/>
        </p:nvSpPr>
        <p:spPr>
          <a:xfrm>
            <a:off x="1523999" y="5331469"/>
            <a:ext cx="8786777" cy="392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7778"/>
              </a:lnSpc>
              <a:defRPr>
                <a:solidFill>
                  <a:srgbClr val="C0B6A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wallet address</a:t>
            </a:r>
          </a:p>
        </p:txBody>
      </p:sp>
      <p:sp>
        <p:nvSpPr>
          <p:cNvPr id="259" name="Text 7"/>
          <p:cNvSpPr txBox="1"/>
          <p:nvPr/>
        </p:nvSpPr>
        <p:spPr>
          <a:xfrm>
            <a:off x="1523999" y="5933404"/>
            <a:ext cx="8227619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0000"/>
              </a:lnSpc>
              <a:defRPr sz="2200">
                <a:solidFill>
                  <a:srgbClr val="F9F4E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policyDigest: 0x8c29...4e7b</a:t>
            </a:r>
          </a:p>
        </p:txBody>
      </p:sp>
      <p:sp>
        <p:nvSpPr>
          <p:cNvPr id="260" name="Text 8"/>
          <p:cNvSpPr txBox="1"/>
          <p:nvPr/>
        </p:nvSpPr>
        <p:spPr>
          <a:xfrm>
            <a:off x="1523999" y="6419179"/>
            <a:ext cx="8786777" cy="392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7778"/>
              </a:lnSpc>
              <a:defRPr>
                <a:solidFill>
                  <a:srgbClr val="C0B6A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policy hash</a:t>
            </a:r>
          </a:p>
        </p:txBody>
      </p:sp>
      <p:sp>
        <p:nvSpPr>
          <p:cNvPr id="261" name="Text 9"/>
          <p:cNvSpPr txBox="1"/>
          <p:nvPr/>
        </p:nvSpPr>
        <p:spPr>
          <a:xfrm>
            <a:off x="1523999" y="7021115"/>
            <a:ext cx="8227619" cy="52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0000"/>
              </a:lnSpc>
              <a:defRPr sz="2200">
                <a:solidFill>
                  <a:srgbClr val="F9F4E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proofDigest: 0x1a3f...9c2d</a:t>
            </a:r>
          </a:p>
        </p:txBody>
      </p:sp>
      <p:sp>
        <p:nvSpPr>
          <p:cNvPr id="262" name="Text 10"/>
          <p:cNvSpPr txBox="1"/>
          <p:nvPr/>
        </p:nvSpPr>
        <p:spPr>
          <a:xfrm>
            <a:off x="1523999" y="7506890"/>
            <a:ext cx="8786777" cy="392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7778"/>
              </a:lnSpc>
              <a:defRPr>
                <a:solidFill>
                  <a:srgbClr val="C0B6A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proof hash</a:t>
            </a:r>
          </a:p>
        </p:txBody>
      </p:sp>
      <p:sp>
        <p:nvSpPr>
          <p:cNvPr id="263" name="Shape 11"/>
          <p:cNvSpPr/>
          <p:nvPr/>
        </p:nvSpPr>
        <p:spPr>
          <a:xfrm>
            <a:off x="10445428" y="3699867"/>
            <a:ext cx="6794749" cy="4618510"/>
          </a:xfrm>
          <a:prstGeom prst="roundRect">
            <a:avLst>
              <a:gd name="adj" fmla="val 5775"/>
            </a:avLst>
          </a:prstGeom>
          <a:solidFill>
            <a:srgbClr val="4023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12"/>
          <p:cNvSpPr txBox="1"/>
          <p:nvPr/>
        </p:nvSpPr>
        <p:spPr>
          <a:xfrm>
            <a:off x="10921678" y="5070424"/>
            <a:ext cx="6426474" cy="421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FFC6A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IT NEVER SEES</a:t>
            </a:r>
          </a:p>
        </p:txBody>
      </p:sp>
      <p:sp>
        <p:nvSpPr>
          <p:cNvPr id="265" name="Text 13"/>
          <p:cNvSpPr txBox="1"/>
          <p:nvPr/>
        </p:nvSpPr>
        <p:spPr>
          <a:xfrm>
            <a:off x="10921678" y="5759053"/>
            <a:ext cx="6017516" cy="1226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4874"/>
              </a:lnSpc>
              <a:defRPr sz="3900">
                <a:solidFill>
                  <a:srgbClr val="FFE1D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Age, HbA1c, eGFR, or any biomarker values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1047750" y="914400"/>
            <a:ext cx="1282898" cy="544786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1"/>
          <p:cNvSpPr txBox="1"/>
          <p:nvPr/>
        </p:nvSpPr>
        <p:spPr>
          <a:xfrm>
            <a:off x="1295400" y="1009649"/>
            <a:ext cx="863797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271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Technical Stack</a:t>
            </a:r>
          </a:p>
        </p:txBody>
      </p:sp>
      <p:sp>
        <p:nvSpPr>
          <p:cNvPr id="272" name="Shape 3"/>
          <p:cNvSpPr/>
          <p:nvPr/>
        </p:nvSpPr>
        <p:spPr>
          <a:xfrm>
            <a:off x="1047750" y="3689448"/>
            <a:ext cx="7886700" cy="19051"/>
          </a:xfrm>
          <a:prstGeom prst="rect">
            <a:avLst/>
          </a:prstGeom>
          <a:solidFill>
            <a:srgbClr val="DCD3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4"/>
          <p:cNvSpPr txBox="1"/>
          <p:nvPr/>
        </p:nvSpPr>
        <p:spPr>
          <a:xfrm>
            <a:off x="1047750" y="3026568"/>
            <a:ext cx="2200275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274" name="Text 5"/>
          <p:cNvSpPr txBox="1"/>
          <p:nvPr/>
        </p:nvSpPr>
        <p:spPr>
          <a:xfrm>
            <a:off x="3314699" y="3036093"/>
            <a:ext cx="5070457" cy="495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352"/>
              </a:lnSpc>
              <a:defRPr sz="23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React + Vite + Tailwind (local-only)</a:t>
            </a:r>
          </a:p>
        </p:txBody>
      </p:sp>
      <p:sp>
        <p:nvSpPr>
          <p:cNvPr id="275" name="Shape 6"/>
          <p:cNvSpPr/>
          <p:nvPr/>
        </p:nvSpPr>
        <p:spPr>
          <a:xfrm>
            <a:off x="9353550" y="3689448"/>
            <a:ext cx="7886700" cy="19051"/>
          </a:xfrm>
          <a:prstGeom prst="rect">
            <a:avLst/>
          </a:prstGeom>
          <a:solidFill>
            <a:srgbClr val="DCD3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7"/>
          <p:cNvSpPr txBox="1"/>
          <p:nvPr/>
        </p:nvSpPr>
        <p:spPr>
          <a:xfrm>
            <a:off x="9353550" y="3026568"/>
            <a:ext cx="2200275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Proof</a:t>
            </a:r>
          </a:p>
        </p:txBody>
      </p:sp>
      <p:sp>
        <p:nvSpPr>
          <p:cNvPr id="277" name="Text 8"/>
          <p:cNvSpPr txBox="1"/>
          <p:nvPr/>
        </p:nvSpPr>
        <p:spPr>
          <a:xfrm>
            <a:off x="11620499" y="3036093"/>
            <a:ext cx="5053104" cy="495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352"/>
              </a:lnSpc>
              <a:defRPr sz="23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EZKL v23.0.5 + ONNX (zk-SNARK)</a:t>
            </a:r>
          </a:p>
        </p:txBody>
      </p:sp>
      <p:sp>
        <p:nvSpPr>
          <p:cNvPr id="278" name="Shape 9"/>
          <p:cNvSpPr/>
          <p:nvPr/>
        </p:nvSpPr>
        <p:spPr>
          <a:xfrm>
            <a:off x="1047750" y="4561880"/>
            <a:ext cx="7886700" cy="19051"/>
          </a:xfrm>
          <a:prstGeom prst="rect">
            <a:avLst/>
          </a:prstGeom>
          <a:solidFill>
            <a:srgbClr val="DCD3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10"/>
          <p:cNvSpPr txBox="1"/>
          <p:nvPr/>
        </p:nvSpPr>
        <p:spPr>
          <a:xfrm>
            <a:off x="1047750" y="3898998"/>
            <a:ext cx="2200275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System</a:t>
            </a:r>
          </a:p>
        </p:txBody>
      </p:sp>
      <p:sp>
        <p:nvSpPr>
          <p:cNvPr id="280" name="Text 11"/>
          <p:cNvSpPr txBox="1"/>
          <p:nvPr/>
        </p:nvSpPr>
        <p:spPr>
          <a:xfrm>
            <a:off x="3314700" y="3908523"/>
            <a:ext cx="2455337" cy="495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352"/>
              </a:lnSpc>
              <a:defRPr sz="23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Halo2 zk-SNARK</a:t>
            </a:r>
          </a:p>
        </p:txBody>
      </p:sp>
      <p:sp>
        <p:nvSpPr>
          <p:cNvPr id="281" name="Shape 12"/>
          <p:cNvSpPr/>
          <p:nvPr/>
        </p:nvSpPr>
        <p:spPr>
          <a:xfrm>
            <a:off x="9353550" y="4561880"/>
            <a:ext cx="7886700" cy="19051"/>
          </a:xfrm>
          <a:prstGeom prst="rect">
            <a:avLst/>
          </a:prstGeom>
          <a:solidFill>
            <a:srgbClr val="DCD3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13"/>
          <p:cNvSpPr txBox="1"/>
          <p:nvPr/>
        </p:nvSpPr>
        <p:spPr>
          <a:xfrm>
            <a:off x="9353550" y="3898998"/>
            <a:ext cx="2200275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Contracts</a:t>
            </a:r>
          </a:p>
        </p:txBody>
      </p:sp>
      <p:sp>
        <p:nvSpPr>
          <p:cNvPr id="283" name="Text 14"/>
          <p:cNvSpPr txBox="1"/>
          <p:nvPr/>
        </p:nvSpPr>
        <p:spPr>
          <a:xfrm>
            <a:off x="11620499" y="3908523"/>
            <a:ext cx="4123144" cy="495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352"/>
              </a:lnSpc>
              <a:defRPr sz="23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Hardhat + generated verifier</a:t>
            </a:r>
          </a:p>
        </p:txBody>
      </p:sp>
      <p:sp>
        <p:nvSpPr>
          <p:cNvPr id="284" name="Shape 15"/>
          <p:cNvSpPr/>
          <p:nvPr/>
        </p:nvSpPr>
        <p:spPr>
          <a:xfrm>
            <a:off x="1047750" y="5434310"/>
            <a:ext cx="7886700" cy="19051"/>
          </a:xfrm>
          <a:prstGeom prst="rect">
            <a:avLst/>
          </a:prstGeom>
          <a:solidFill>
            <a:srgbClr val="DCD3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16"/>
          <p:cNvSpPr txBox="1"/>
          <p:nvPr/>
        </p:nvSpPr>
        <p:spPr>
          <a:xfrm>
            <a:off x="1047750" y="4771430"/>
            <a:ext cx="2200275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Registry</a:t>
            </a:r>
          </a:p>
        </p:txBody>
      </p:sp>
      <p:sp>
        <p:nvSpPr>
          <p:cNvPr id="286" name="Text 17"/>
          <p:cNvSpPr txBox="1"/>
          <p:nvPr/>
        </p:nvSpPr>
        <p:spPr>
          <a:xfrm>
            <a:off x="3314699" y="4780955"/>
            <a:ext cx="3058941" cy="495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352"/>
              </a:lnSpc>
              <a:defRPr sz="23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TrialProofRegistry.sol</a:t>
            </a:r>
          </a:p>
        </p:txBody>
      </p:sp>
      <p:sp>
        <p:nvSpPr>
          <p:cNvPr id="287" name="Shape 18"/>
          <p:cNvSpPr/>
          <p:nvPr/>
        </p:nvSpPr>
        <p:spPr>
          <a:xfrm>
            <a:off x="9353550" y="5434310"/>
            <a:ext cx="7886700" cy="19051"/>
          </a:xfrm>
          <a:prstGeom prst="rect">
            <a:avLst/>
          </a:prstGeom>
          <a:solidFill>
            <a:srgbClr val="DCD3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Shape 18"/>
          <p:cNvSpPr/>
          <p:nvPr/>
        </p:nvSpPr>
        <p:spPr>
          <a:xfrm>
            <a:off x="1047750" y="6306740"/>
            <a:ext cx="16192500" cy="19051"/>
          </a:xfrm>
          <a:prstGeom prst="rect">
            <a:avLst/>
          </a:prstGeom>
          <a:solidFill>
            <a:srgbClr val="DCD3C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19"/>
          <p:cNvSpPr txBox="1"/>
          <p:nvPr/>
        </p:nvSpPr>
        <p:spPr>
          <a:xfrm>
            <a:off x="9353550" y="4771430"/>
            <a:ext cx="2200275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Deploy</a:t>
            </a:r>
          </a:p>
        </p:txBody>
      </p:sp>
      <p:sp>
        <p:nvSpPr>
          <p:cNvPr id="292" name="Text 19"/>
          <p:cNvSpPr txBox="1"/>
          <p:nvPr/>
        </p:nvSpPr>
        <p:spPr>
          <a:xfrm>
            <a:off x="1047750" y="5643860"/>
            <a:ext cx="2200275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054"/>
              </a:lnSpc>
              <a:defRPr sz="2400">
                <a:solidFill>
                  <a:srgbClr val="8C491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LIVE DEPLOYMENT</a:t>
            </a:r>
          </a:p>
        </p:txBody>
      </p:sp>
      <p:sp>
        <p:nvSpPr>
          <p:cNvPr id="289" name="Text 20"/>
          <p:cNvSpPr txBox="1"/>
          <p:nvPr/>
        </p:nvSpPr>
        <p:spPr>
          <a:xfrm>
            <a:off x="11620500" y="4780955"/>
            <a:ext cx="3760850" cy="495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352"/>
              </a:lnSpc>
              <a:defRPr sz="23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Docker Compose (arm64)</a:t>
            </a:r>
          </a:p>
        </p:txBody>
      </p:sp>
      <p:sp>
        <p:nvSpPr>
          <p:cNvPr id="293" name="Text 20"/>
          <p:cNvSpPr txBox="1"/>
          <p:nvPr/>
        </p:nvSpPr>
        <p:spPr>
          <a:xfrm>
            <a:off x="3314699" y="5653385"/>
            <a:ext cx="14700000" cy="495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352"/>
              </a:lnSpc>
              <a:defRPr sz="2300">
                <a:solidFill>
                  <a:srgbClr val="4742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0x22ec…255ab (verifier) · 0xe4a8…fefd9 (registry) — source-verified on HashKey Chain Testnet</a:t>
            </a:r>
          </a:p>
        </p:txBody>
      </p:sp>
      <p:sp>
        <p:nvSpPr>
          <p:cNvPr id="290" name="Text 21"/>
          <p:cNvSpPr txBox="1"/>
          <p:nvPr/>
        </p:nvSpPr>
        <p:spPr>
          <a:xfrm>
            <a:off x="1047750" y="9043988"/>
            <a:ext cx="2418665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645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</a:t>
            </a:r>
          </a:p>
        </p:txBody>
      </p:sp>
      <p:sp>
        <p:nvSpPr>
          <p:cNvPr id="291" name="Text 22"/>
          <p:cNvSpPr txBox="1"/>
          <p:nvPr/>
        </p:nvSpPr>
        <p:spPr>
          <a:xfrm>
            <a:off x="3570387" y="8984977"/>
            <a:ext cx="8335835" cy="54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883"/>
              </a:lnSpc>
              <a:defRPr b="1" sz="2500">
                <a:solidFill>
                  <a:srgbClr val="56633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setup 5.7s · prove 2.0s · verify 0.027s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E2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1047750" y="914400"/>
            <a:ext cx="1811165" cy="544786"/>
          </a:xfrm>
          <a:prstGeom prst="roundRect">
            <a:avLst>
              <a:gd name="adj" fmla="val 50000"/>
            </a:avLst>
          </a:prstGeom>
          <a:solidFill>
            <a:srgbClr val="64331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1"/>
          <p:cNvSpPr txBox="1"/>
          <p:nvPr/>
        </p:nvSpPr>
        <p:spPr>
          <a:xfrm>
            <a:off x="1295399" y="1009649"/>
            <a:ext cx="1392066" cy="392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273"/>
              </a:lnSpc>
              <a:defRPr b="1" spc="100">
                <a:solidFill>
                  <a:srgbClr val="FFE1D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ROADMAP</a:t>
            </a:r>
          </a:p>
        </p:txBody>
      </p:sp>
      <p:sp>
        <p:nvSpPr>
          <p:cNvPr id="297" name="Text 2"/>
          <p:cNvSpPr txBox="1"/>
          <p:nvPr/>
        </p:nvSpPr>
        <p:spPr>
          <a:xfrm>
            <a:off x="1047750" y="1763984"/>
            <a:ext cx="17811750" cy="8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92069"/>
              </a:lnSpc>
              <a:defRPr spc="-92" sz="5244">
                <a:solidFill>
                  <a:srgbClr val="FFC6A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Future Roadmap</a:t>
            </a:r>
          </a:p>
        </p:txBody>
      </p:sp>
      <p:sp>
        <p:nvSpPr>
          <p:cNvPr id="298" name="Shape 3"/>
          <p:cNvSpPr/>
          <p:nvPr/>
        </p:nvSpPr>
        <p:spPr>
          <a:xfrm>
            <a:off x="1047750" y="4304629"/>
            <a:ext cx="3819525" cy="3408909"/>
          </a:xfrm>
          <a:prstGeom prst="roundRect">
            <a:avLst>
              <a:gd name="adj" fmla="val 7824"/>
            </a:avLst>
          </a:prstGeom>
          <a:solidFill>
            <a:srgbClr val="8C49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4"/>
          <p:cNvSpPr txBox="1"/>
          <p:nvPr/>
        </p:nvSpPr>
        <p:spPr>
          <a:xfrm>
            <a:off x="1409699" y="4723729"/>
            <a:ext cx="3405189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FFE1D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1 — TODAY</a:t>
            </a:r>
          </a:p>
        </p:txBody>
      </p:sp>
      <p:sp>
        <p:nvSpPr>
          <p:cNvPr id="300" name="Text 5"/>
          <p:cNvSpPr txBox="1"/>
          <p:nvPr/>
        </p:nvSpPr>
        <p:spPr>
          <a:xfrm>
            <a:off x="1409699" y="5374257"/>
            <a:ext cx="3188496" cy="1958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918"/>
              </a:lnSpc>
              <a:defRPr sz="3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Prove eligibility for threshold policy</a:t>
            </a:r>
          </a:p>
        </p:txBody>
      </p:sp>
      <p:sp>
        <p:nvSpPr>
          <p:cNvPr id="301" name="Shape 6"/>
          <p:cNvSpPr/>
          <p:nvPr/>
        </p:nvSpPr>
        <p:spPr>
          <a:xfrm>
            <a:off x="5172075" y="4304629"/>
            <a:ext cx="3819525" cy="3408909"/>
          </a:xfrm>
          <a:prstGeom prst="roundRect">
            <a:avLst>
              <a:gd name="adj" fmla="val 7824"/>
            </a:avLst>
          </a:prstGeom>
          <a:solidFill>
            <a:srgbClr val="4742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7"/>
          <p:cNvSpPr txBox="1"/>
          <p:nvPr/>
        </p:nvSpPr>
        <p:spPr>
          <a:xfrm>
            <a:off x="5534024" y="4723729"/>
            <a:ext cx="3405189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CCDB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2</a:t>
            </a:r>
          </a:p>
        </p:txBody>
      </p:sp>
      <p:sp>
        <p:nvSpPr>
          <p:cNvPr id="303" name="Text 8"/>
          <p:cNvSpPr txBox="1"/>
          <p:nvPr/>
        </p:nvSpPr>
        <p:spPr>
          <a:xfrm>
            <a:off x="5534024" y="5374257"/>
            <a:ext cx="3188496" cy="1958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918"/>
              </a:lnSpc>
              <a:defRPr sz="3100">
                <a:solidFill>
                  <a:srgbClr val="F9F4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Authenticated inputs — signed labs, zkTLS</a:t>
            </a:r>
          </a:p>
        </p:txBody>
      </p:sp>
      <p:sp>
        <p:nvSpPr>
          <p:cNvPr id="304" name="Shape 9"/>
          <p:cNvSpPr/>
          <p:nvPr/>
        </p:nvSpPr>
        <p:spPr>
          <a:xfrm>
            <a:off x="9296400" y="4304629"/>
            <a:ext cx="3819525" cy="3408909"/>
          </a:xfrm>
          <a:prstGeom prst="roundRect">
            <a:avLst>
              <a:gd name="adj" fmla="val 7824"/>
            </a:avLst>
          </a:prstGeom>
          <a:solidFill>
            <a:srgbClr val="4742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Text 10"/>
          <p:cNvSpPr txBox="1"/>
          <p:nvPr/>
        </p:nvSpPr>
        <p:spPr>
          <a:xfrm>
            <a:off x="9658349" y="4723729"/>
            <a:ext cx="3405189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CCDB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306" name="Text 11"/>
          <p:cNvSpPr txBox="1"/>
          <p:nvPr/>
        </p:nvSpPr>
        <p:spPr>
          <a:xfrm>
            <a:off x="9658349" y="5374257"/>
            <a:ext cx="3188496" cy="1958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918"/>
              </a:lnSpc>
              <a:defRPr sz="3100">
                <a:solidFill>
                  <a:srgbClr val="F9F4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Scientific bounties — auto-claim on proof</a:t>
            </a:r>
          </a:p>
        </p:txBody>
      </p:sp>
      <p:sp>
        <p:nvSpPr>
          <p:cNvPr id="307" name="Shape 12"/>
          <p:cNvSpPr/>
          <p:nvPr/>
        </p:nvSpPr>
        <p:spPr>
          <a:xfrm>
            <a:off x="13420725" y="4304629"/>
            <a:ext cx="3819525" cy="3408909"/>
          </a:xfrm>
          <a:prstGeom prst="roundRect">
            <a:avLst>
              <a:gd name="adj" fmla="val 7824"/>
            </a:avLst>
          </a:prstGeom>
          <a:solidFill>
            <a:srgbClr val="4742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13"/>
          <p:cNvSpPr txBox="1"/>
          <p:nvPr/>
        </p:nvSpPr>
        <p:spPr>
          <a:xfrm>
            <a:off x="13782674" y="4723729"/>
            <a:ext cx="3405189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CCDB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PHASE 4</a:t>
            </a:r>
          </a:p>
        </p:txBody>
      </p:sp>
      <p:sp>
        <p:nvSpPr>
          <p:cNvPr id="309" name="Text 14"/>
          <p:cNvSpPr txBox="1"/>
          <p:nvPr/>
        </p:nvSpPr>
        <p:spPr>
          <a:xfrm>
            <a:off x="13782674" y="5374257"/>
            <a:ext cx="3188496" cy="1958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3918"/>
              </a:lnSpc>
              <a:defRPr sz="3100">
                <a:solidFill>
                  <a:srgbClr val="F9F4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Proof-of-contribution — continuous benefits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8C4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0"/>
          <p:cNvSpPr/>
          <p:nvPr/>
        </p:nvSpPr>
        <p:spPr>
          <a:xfrm>
            <a:off x="13335000" y="5905499"/>
            <a:ext cx="6477000" cy="6477001"/>
          </a:xfrm>
          <a:prstGeom prst="ellipse">
            <a:avLst/>
          </a:prstGeom>
          <a:solidFill>
            <a:srgbClr val="B262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Shape 1"/>
          <p:cNvSpPr/>
          <p:nvPr/>
        </p:nvSpPr>
        <p:spPr>
          <a:xfrm>
            <a:off x="1047750" y="3551858"/>
            <a:ext cx="3997896" cy="612428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2"/>
          <p:cNvSpPr txBox="1"/>
          <p:nvPr/>
        </p:nvSpPr>
        <p:spPr>
          <a:xfrm>
            <a:off x="1333500" y="3666158"/>
            <a:ext cx="3546332" cy="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4333"/>
              </a:lnSpc>
              <a:defRPr b="1" spc="100" sz="1900">
                <a:solidFill>
                  <a:srgbClr val="64331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SWITCHING TO THE APP</a:t>
            </a:r>
          </a:p>
        </p:txBody>
      </p:sp>
      <p:sp>
        <p:nvSpPr>
          <p:cNvPr id="316" name="Text 3"/>
          <p:cNvSpPr txBox="1"/>
          <p:nvPr/>
        </p:nvSpPr>
        <p:spPr>
          <a:xfrm>
            <a:off x="1047750" y="4545284"/>
            <a:ext cx="17811750" cy="129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86842"/>
              </a:lnSpc>
              <a:defRPr spc="-176" sz="871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317" name="Text 4"/>
          <p:cNvSpPr txBox="1"/>
          <p:nvPr/>
        </p:nvSpPr>
        <p:spPr>
          <a:xfrm>
            <a:off x="1047749" y="6412184"/>
            <a:ext cx="2633865" cy="475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7692"/>
              </a:lnSpc>
              <a:defRPr b="1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Load labs locally</a:t>
            </a:r>
          </a:p>
        </p:txBody>
      </p:sp>
      <p:sp>
        <p:nvSpPr>
          <p:cNvPr id="318" name="Text 5"/>
          <p:cNvSpPr txBox="1"/>
          <p:nvPr/>
        </p:nvSpPr>
        <p:spPr>
          <a:xfrm>
            <a:off x="4013670" y="6412184"/>
            <a:ext cx="3455775" cy="475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7692"/>
              </a:lnSpc>
              <a:defRPr b="1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Generate proof in ~2s</a:t>
            </a:r>
          </a:p>
        </p:txBody>
      </p:sp>
      <p:sp>
        <p:nvSpPr>
          <p:cNvPr id="319" name="Text 6"/>
          <p:cNvSpPr txBox="1"/>
          <p:nvPr/>
        </p:nvSpPr>
        <p:spPr>
          <a:xfrm>
            <a:off x="7726784" y="6412184"/>
            <a:ext cx="2336811" cy="475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7692"/>
              </a:lnSpc>
              <a:defRPr b="1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Verify on chain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E2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13335000" y="-1524001"/>
            <a:ext cx="6858000" cy="6858001"/>
          </a:xfrm>
          <a:prstGeom prst="ellipse">
            <a:avLst/>
          </a:prstGeom>
          <a:solidFill>
            <a:srgbClr val="40231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1"/>
          <p:cNvSpPr txBox="1"/>
          <p:nvPr/>
        </p:nvSpPr>
        <p:spPr>
          <a:xfrm>
            <a:off x="1047750" y="2693267"/>
            <a:ext cx="17811750" cy="1558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68095">
              <a:lnSpc>
                <a:spcPct val="82694"/>
              </a:lnSpc>
              <a:defRPr spc="-168" sz="10584">
                <a:solidFill>
                  <a:srgbClr val="FFC6A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VitaPod</a:t>
            </a:r>
          </a:p>
        </p:txBody>
      </p:sp>
      <p:sp>
        <p:nvSpPr>
          <p:cNvPr id="325" name="Text 2"/>
          <p:cNvSpPr txBox="1"/>
          <p:nvPr/>
        </p:nvSpPr>
        <p:spPr>
          <a:xfrm>
            <a:off x="1047749" y="4556299"/>
            <a:ext cx="11282365" cy="1318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4186"/>
              </a:lnSpc>
              <a:defRPr sz="4200">
                <a:solidFill>
                  <a:srgbClr val="F9F4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privacy primitive for trustless clinical trials.</a:t>
            </a:r>
          </a:p>
        </p:txBody>
      </p:sp>
      <p:sp>
        <p:nvSpPr>
          <p:cNvPr id="326" name="Text 3"/>
          <p:cNvSpPr txBox="1"/>
          <p:nvPr/>
        </p:nvSpPr>
        <p:spPr>
          <a:xfrm>
            <a:off x="1047750" y="6407868"/>
            <a:ext cx="17811750" cy="510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7778"/>
              </a:lnSpc>
              <a:defRPr sz="2400">
                <a:solidFill>
                  <a:srgbClr val="CCDBB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github.com/dyrtyData/VitaPod</a:t>
            </a:r>
          </a:p>
        </p:txBody>
      </p:sp>
      <p:sp>
        <p:nvSpPr>
          <p:cNvPr id="328" name="Text 3"/>
          <p:cNvSpPr txBox="1"/>
          <p:nvPr/>
        </p:nvSpPr>
        <p:spPr>
          <a:xfrm>
            <a:off x="1047750" y="5950000"/>
            <a:ext cx="17811750" cy="4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7778"/>
              </a:lnSpc>
              <a:defRPr sz="2000">
                <a:solidFill>
                  <a:srgbClr val="CCDB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Same architecture, any model — the privacy primitive Decentralized Science needs.</a:t>
            </a:r>
          </a:p>
        </p:txBody>
      </p:sp>
      <p:sp>
        <p:nvSpPr>
          <p:cNvPr id="327" name="Text 4"/>
          <p:cNvSpPr txBox="1"/>
          <p:nvPr/>
        </p:nvSpPr>
        <p:spPr>
          <a:xfrm>
            <a:off x="1047750" y="7146949"/>
            <a:ext cx="17811750" cy="599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402"/>
              </a:lnSpc>
              <a:defRPr b="1" sz="2800">
                <a:solidFill>
                  <a:srgbClr val="DCD3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Questions?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aPod_Privacy-Preserving_Clinical_Trials_Architectur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